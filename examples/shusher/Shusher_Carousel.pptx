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6858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6126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Helvetica"/>
              </a:defRPr>
            </a:pPr>
            <a:r>
              <a:t>Shusher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28016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EC978"/>
                </a:solidFill>
                <a:latin typeface="Helvetica"/>
              </a:defRPr>
            </a:pPr>
            <a:r>
              <a:t>The polite nudge you never had to give.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45920"/>
            <a:ext cx="6126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Helvetica"/>
              </a:defRPr>
            </a:pPr>
            <a:r>
              <a:t>A palm-sized puck that listens for sustained loud speech, then fires a discreet, human-sounding "shhh" toward the offender. You aim it. It does the rest.</a:t>
            </a:r>
          </a:p>
        </p:txBody>
      </p:sp>
      <p:pic>
        <p:nvPicPr>
          <p:cNvPr id="7" name="Picture 6" descr="cross_section_illustration_shus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560320"/>
            <a:ext cx="6126480" cy="5029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8252460"/>
            <a:ext cx="6858000" cy="32004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29818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CC"/>
                </a:solidFill>
                <a:latin typeface="Helvetica"/>
              </a:defRPr>
            </a:pPr>
            <a:r>
              <a:t>Product Overview  |  Concept Stage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82981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097280" cy="27432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6126480" cy="173736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6126480" cy="54864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545"/>
                </a:solidFill>
                <a:latin typeface="Helvetica"/>
              </a:defRPr>
            </a:pPr>
            <a:r>
              <a:t>Loud talkers and speakerphone abusers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Helvetica"/>
              </a:defRPr>
            </a:pPr>
            <a:r>
              <a:t>Cafes, coworking spaces, trains -- someone always decides the whole room needs to hear their call. You tolerate it, or you confront a stranger. Neither feels good.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017520"/>
            <a:ext cx="6126480" cy="173736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3017520"/>
            <a:ext cx="612648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Helvetica"/>
              </a:defRPr>
            </a:pPr>
            <a:r>
              <a:t>Confrontation is awkward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11880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Helvetica"/>
              </a:defRPr>
            </a:pPr>
            <a:r>
              <a:t>Asking someone to lower their voice means making yourself the center of attention. Most people avoid it. The loud talker wins by default.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983479"/>
            <a:ext cx="6126480" cy="173736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4983479"/>
            <a:ext cx="612648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166359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Helvetica"/>
              </a:defRPr>
            </a:pPr>
            <a:r>
              <a:t>No passive, low-effort solution exists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77839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Helvetica"/>
              </a:defRPr>
            </a:pPr>
            <a:r>
              <a:t>Noise-cancelling headphones help you, but they don't signal anything to the offender. There's no device that delivers a social nudge without making you the messenger.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7040880"/>
            <a:ext cx="6126480" cy="10972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713232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855F7"/>
                </a:solidFill>
                <a:latin typeface="Helvetica"/>
              </a:defRPr>
            </a:pPr>
            <a:r>
              <a:t>TARGET USERS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7406640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Helvetica"/>
              </a:defRPr>
            </a:pPr>
            <a:r>
              <a:t>Remote workers  |  Students  |  Commuters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7726679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Helvetica"/>
              </a:defRPr>
            </a:pPr>
            <a:r>
              <a:t>Library goers  |  Introverts  |  Anyone who values quiet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82981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4E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097280" cy="27432"/>
          </a:xfrm>
          <a:prstGeom prst="rect">
            <a:avLst/>
          </a:prstGeom>
          <a:solidFill>
            <a:srgbClr val="4E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6126480" cy="15544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BF5"/>
                </a:solidFill>
                <a:latin typeface="Helvetica"/>
              </a:defRPr>
            </a:pPr>
            <a:r>
              <a:t>1. 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Point the puck at the noise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Helvetica"/>
              </a:defRPr>
            </a:pPr>
            <a:r>
              <a:t>Place Shusher on your table and aim the front face toward the loud talker. Press the side button once. A brief vibration confirms it's active.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788920"/>
            <a:ext cx="6126480" cy="15544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880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78"/>
                </a:solidFill>
                <a:latin typeface="Helvetica"/>
              </a:defRPr>
            </a:pPr>
            <a:r>
              <a:t>2. Detect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Device listens and compares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20440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Helvetica"/>
              </a:defRPr>
            </a:pPr>
            <a:r>
              <a:t>Two mics -- front (cardioid) and rear (omni) -- measure audio levels continuously. When the front mic detects sustained loud speech 10+ dB above ambient for 6+ seconds, the trigger fires.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572000"/>
            <a:ext cx="6126480" cy="15544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855F7"/>
                </a:solidFill>
                <a:latin typeface="Helvetica"/>
              </a:defRPr>
            </a:pPr>
            <a:r>
              <a:t>3. Shush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8348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A natural "shhh" fires forward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03520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Helvetica"/>
              </a:defRPr>
            </a:pPr>
            <a:r>
              <a:t>A pre-recorded human shush plays through a front-facing speaker with waveguide. Audible at 2-5m, blends with cafe noise for everyone else. Plausibly deniable.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355079"/>
            <a:ext cx="6126480" cy="15544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44651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Helvetica"/>
              </a:defRPr>
            </a:pPr>
            <a:r>
              <a:t>4. Cool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59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Wait, then repeat if needed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7086599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Helvetica"/>
              </a:defRPr>
            </a:pPr>
            <a:r>
              <a:t>After a shush, a 30-60 second cooldown prevents re-triggering. One polite nudge per incident. If they get loud again, another shush fires.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82981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097280" cy="27432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6126480" cy="10058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BF5"/>
                </a:solidFill>
                <a:latin typeface="Helvetica"/>
              </a:defRPr>
            </a:pPr>
            <a:r>
              <a:t>Detection 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Helvetica"/>
              </a:defRPr>
            </a:pPr>
            <a:r>
              <a:t>Front mic  --&gt;  Bandpass  --&gt;  RMS  --&gt;  Differential  --&gt;  Trigger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cardioid PDM    300-4kHz IIR    50ms window    front vs rear    sustained &gt;6s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148840"/>
            <a:ext cx="6126480" cy="7772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9456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978"/>
                </a:solidFill>
                <a:latin typeface="Helvetica"/>
              </a:defRPr>
            </a:pPr>
            <a:r>
              <a:t>Shush 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68880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Flash sample  --&gt;  I2S  --&gt;  MAX98357A  --&gt;  Speaker + Waveguide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6126480" cy="27432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20040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BF5"/>
                </a:solidFill>
                <a:latin typeface="Helvetica"/>
              </a:defRPr>
            </a:pPr>
            <a:r>
              <a:t>SUBSYSTEMS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474720"/>
            <a:ext cx="6126480" cy="5029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474720"/>
            <a:ext cx="54864" cy="502920"/>
          </a:xfrm>
          <a:prstGeom prst="rect">
            <a:avLst/>
          </a:prstGeom>
          <a:solidFill>
            <a:srgbClr val="4E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502152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MCU (ESP32-S3)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30752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Dual-core 240 MHz, audio DSP, BLE 5.0, 8MB flash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069080"/>
            <a:ext cx="6126480" cy="502920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069080"/>
            <a:ext cx="54864" cy="5029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096512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Front mic (ICS-43434)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325112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Cardioid via acoustic porting, PDM 16 kHz, 65 dB SNR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663440"/>
            <a:ext cx="6126480" cy="5029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663440"/>
            <a:ext cx="54864" cy="502920"/>
          </a:xfrm>
          <a:prstGeom prst="rect">
            <a:avLst/>
          </a:prstGeom>
          <a:solidFill>
            <a:srgbClr val="4E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690872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Rear mic (ICS-43434)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919472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Omnidirectional, ambient baseline reference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5257800"/>
            <a:ext cx="6126480" cy="502920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5257800"/>
            <a:ext cx="54864" cy="502920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285232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Speaker (28mm + waveguide)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513832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Forward-biased shush output, 80-85 dB @ 10cm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5852160"/>
            <a:ext cx="6126480" cy="5029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5852160"/>
            <a:ext cx="54864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879592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Amp (MAX98357A)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108192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I2S class-D, auto-shutdown when idle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6446520"/>
            <a:ext cx="6126480" cy="502920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6446520"/>
            <a:ext cx="54864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473952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Power (1200 mAh LiPo)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702552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USB-C charging, ~3 days per charge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7086600"/>
            <a:ext cx="6126480" cy="1005840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7132320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5F7"/>
                </a:solidFill>
                <a:latin typeface="Helvetica"/>
              </a:defRPr>
            </a:pPr>
            <a:r>
              <a:t>Designed to disappear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7452360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CC"/>
                </a:solidFill>
                <a:latin typeface="Helvetica"/>
              </a:defRPr>
            </a:pPr>
            <a:r>
              <a:t>No visible LEDs during operation. No electronic sound artifacts. The shush sounds human -- breathy, variable, naturally timed. The offender wonders if someone nearby shushed them. Not a gadget.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82981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Plausible Deniability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097280" cy="274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Helvetica"/>
              </a:defRPr>
            </a:pPr>
            <a:r>
              <a:t>The product works only if nobody knows it's there.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6126480" cy="16459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6126480" cy="54864"/>
          </a:xfrm>
          <a:prstGeom prst="rect">
            <a:avLst/>
          </a:prstGeom>
          <a:solidFill>
            <a:srgbClr val="4E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78"/>
                </a:solidFill>
                <a:latin typeface="Helvetica"/>
              </a:defRPr>
            </a:pPr>
            <a:r>
              <a:t>Looks like a coaster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Helvetica"/>
              </a:defRPr>
            </a:pPr>
            <a:r>
              <a:t>70mm diameter, 15mm tall, matte dark puck. No branding on top. Speaker slot disguised as a seam line. Mic port looks like a mold mark. Sits naturally on any cafe table.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291840"/>
            <a:ext cx="6126480" cy="196596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291840"/>
            <a:ext cx="612648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42900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Helvetica"/>
              </a:defRPr>
            </a:pPr>
            <a:r>
              <a:t>Sounds human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40480"/>
            <a:ext cx="5760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Helvetica"/>
              </a:defRPr>
            </a:pPr>
            <a:r>
              <a:t>20+ pre-recorded shush variants across 5 styles: classic "shhh," throat clear, gentle "ahem," whispered "excuse me," and passive-aggressive sigh. Each firing picks a different sample. Breathy, slightly variable, naturally timed. No robotic quality, no beeps, no electronic artifacts.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577840"/>
            <a:ext cx="6126480" cy="2514600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669280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Helvetica"/>
              </a:defRPr>
            </a:pPr>
            <a:r>
              <a:t>The discretion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035040"/>
            <a:ext cx="5760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CC"/>
                </a:solidFill>
                <a:latin typeface="Helvetica"/>
              </a:defRPr>
            </a:pPr>
            <a:r>
              <a:t>No LEDs during operation: A single LED under the device confirms power-on, then goes dark. Invisible on a table.</a:t>
            </a:r>
          </a:p>
          <a:p>
            <a:pPr algn="l">
              <a:spcBef>
                <a:spcPts val="600"/>
              </a:spcBef>
              <a:defRPr sz="900" b="0">
                <a:solidFill>
                  <a:srgbClr val="BBBBCC"/>
                </a:solidFill>
                <a:latin typeface="Helvetica"/>
              </a:defRPr>
            </a:pPr>
            <a:r>
              <a:t>Forward-biased audio: Waveguide provides ~4-6 dB front-to-side ratio. The target hears it; side-facing listeners don't.</a:t>
            </a:r>
          </a:p>
          <a:p>
            <a:pPr algn="l">
              <a:spcBef>
                <a:spcPts val="600"/>
              </a:spcBef>
              <a:defRPr sz="900" b="0">
                <a:solidFill>
                  <a:srgbClr val="BBBBCC"/>
                </a:solidFill>
                <a:latin typeface="Helvetica"/>
              </a:defRPr>
            </a:pPr>
            <a:r>
              <a:t>Cooldown prevents harassment: Max one shush per 30-60 seconds. A polite nudge, not a weapon.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82981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Constraints &amp; BOM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097280" cy="274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6126480" cy="5029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Helvetica"/>
              </a:defRPr>
            </a:pPr>
            <a:r>
              <a:t>Battery life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1200 mAh LiPo, 4-hr daily active sessions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5852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~3 days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600200"/>
            <a:ext cx="6126480" cy="502920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459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Helvetica"/>
              </a:defRPr>
            </a:pPr>
            <a:r>
              <a:t>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745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Coaster-sized puck, fits naturally on a 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45920"/>
            <a:ext cx="5852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70mm x 15mm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194560"/>
            <a:ext cx="6126480" cy="5029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2402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Helvetica"/>
              </a:defRPr>
            </a:pPr>
            <a:r>
              <a:t>Shush range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46888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Audible to the target, blends beyond 5m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240280"/>
            <a:ext cx="5852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2-5 meters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788920"/>
            <a:ext cx="6126480" cy="502920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8346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Helvetica"/>
              </a:defRPr>
            </a:pPr>
            <a:r>
              <a:t>Trigger latency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0632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Sustained loud speech, not brief bursts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834640"/>
            <a:ext cx="5852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~6 seconds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383280"/>
            <a:ext cx="6126480" cy="5029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4290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Helvetica"/>
              </a:defRPr>
            </a:pPr>
            <a:r>
              <a:t>False positive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65760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Shushing the barista is a product killer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429000"/>
            <a:ext cx="5852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&lt; 1 / hour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977639"/>
            <a:ext cx="6126480" cy="502920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023359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Helvetica"/>
              </a:defRPr>
            </a:pPr>
            <a:r>
              <a:t>Weight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251959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PCB 20g + battery 25g + enclosure 15g + speaker 5g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023359"/>
            <a:ext cx="5852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~65g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709160"/>
            <a:ext cx="6126480" cy="27432"/>
          </a:xfrm>
          <a:prstGeom prst="rect">
            <a:avLst/>
          </a:prstGeom>
          <a:solidFill>
            <a:srgbClr val="4E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80060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978"/>
                </a:solidFill>
                <a:latin typeface="Helvetica"/>
              </a:defRPr>
            </a:pPr>
            <a:r>
              <a:t>BOM ESTIMATE (1k units)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" y="5074920"/>
            <a:ext cx="5980176" cy="210312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093208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0F0F5"/>
                </a:solidFill>
                <a:latin typeface="Helvetica"/>
              </a:defRPr>
            </a:pPr>
            <a:r>
              <a:t>ESP32-S3-WROOM-1 (N8)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093208"/>
            <a:ext cx="5577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Helvetica"/>
              </a:defRPr>
            </a:pPr>
            <a:r>
              <a:t>$2.80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" y="5321808"/>
            <a:ext cx="5980176" cy="210312"/>
          </a:xfrm>
          <a:prstGeom prst="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340096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0F0F5"/>
                </a:solidFill>
                <a:latin typeface="Helvetica"/>
              </a:defRPr>
            </a:pPr>
            <a:r>
              <a:t>Front MEMS mic (ICS-43434)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340096"/>
            <a:ext cx="5577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Helvetica"/>
              </a:defRPr>
            </a:pPr>
            <a:r>
              <a:t>$0.80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8912" y="5568696"/>
            <a:ext cx="5980176" cy="210312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586984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0F0F5"/>
                </a:solidFill>
                <a:latin typeface="Helvetica"/>
              </a:defRPr>
            </a:pPr>
            <a:r>
              <a:t>Rear MEMS mic (ICS-43434)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586984"/>
            <a:ext cx="5577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Helvetica"/>
              </a:defRPr>
            </a:pPr>
            <a:r>
              <a:t>$0.80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" y="5815583"/>
            <a:ext cx="5980176" cy="210312"/>
          </a:xfrm>
          <a:prstGeom prst="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833871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0F0F5"/>
                </a:solidFill>
                <a:latin typeface="Helvetica"/>
              </a:defRPr>
            </a:pPr>
            <a:r>
              <a:t>MAX98357A class-D amp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833871"/>
            <a:ext cx="5577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Helvetica"/>
              </a:defRPr>
            </a:pPr>
            <a:r>
              <a:t>$1.20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062472"/>
            <a:ext cx="5980176" cy="210312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608076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0F0F5"/>
                </a:solidFill>
                <a:latin typeface="Helvetica"/>
              </a:defRPr>
            </a:pPr>
            <a:r>
              <a:t>28mm dynamic speaker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080760"/>
            <a:ext cx="5577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Helvetica"/>
              </a:defRPr>
            </a:pPr>
            <a:r>
              <a:t>$0.60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8912" y="6309360"/>
            <a:ext cx="5980176" cy="210312"/>
          </a:xfrm>
          <a:prstGeom prst="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6327648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0F0F5"/>
                </a:solidFill>
                <a:latin typeface="Helvetica"/>
              </a:defRPr>
            </a:pPr>
            <a:r>
              <a:t>LRA haptic motor (8mm)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327648"/>
            <a:ext cx="5577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Helvetica"/>
              </a:defRPr>
            </a:pPr>
            <a:r>
              <a:t>$0.50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8912" y="6556248"/>
            <a:ext cx="5980176" cy="210312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6574536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0F0F5"/>
                </a:solidFill>
                <a:latin typeface="Helvetica"/>
              </a:defRPr>
            </a:pPr>
            <a:r>
              <a:t>LiPo battery (1200 mAh)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574536"/>
            <a:ext cx="5577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Helvetica"/>
              </a:defRPr>
            </a:pPr>
            <a:r>
              <a:t>$2.50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8912" y="6803136"/>
            <a:ext cx="5980176" cy="210312"/>
          </a:xfrm>
          <a:prstGeom prst="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6821424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0F0F5"/>
                </a:solidFill>
                <a:latin typeface="Helvetica"/>
              </a:defRPr>
            </a:pPr>
            <a:r>
              <a:t>MCP73831 charge IC + USB-C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821424"/>
            <a:ext cx="5577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Helvetica"/>
              </a:defRPr>
            </a:pPr>
            <a:r>
              <a:t>$0.80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8912" y="7050024"/>
            <a:ext cx="5980176" cy="210312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706831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0F0F5"/>
                </a:solidFill>
                <a:latin typeface="Helvetica"/>
              </a:defRPr>
            </a:pPr>
            <a:r>
              <a:t>LDO + passives + RGB LED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7068312"/>
            <a:ext cx="5577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Helvetica"/>
              </a:defRPr>
            </a:pPr>
            <a:r>
              <a:t>$0.50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8912" y="7296912"/>
            <a:ext cx="5980176" cy="210312"/>
          </a:xfrm>
          <a:prstGeom prst="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731520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0F0F5"/>
                </a:solidFill>
                <a:latin typeface="Helvetica"/>
              </a:defRPr>
            </a:pPr>
            <a:r>
              <a:t>PCB (55mm round, 4-layer)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7315200"/>
            <a:ext cx="5577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Helvetica"/>
              </a:defRPr>
            </a:pPr>
            <a:r>
              <a:t>$1.20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8912" y="7543800"/>
            <a:ext cx="5980176" cy="210312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" y="7562088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0F0F5"/>
                </a:solidFill>
                <a:latin typeface="Helvetica"/>
              </a:defRPr>
            </a:pPr>
            <a:r>
              <a:t>Enclosure (2-piece + waveguide)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7562088"/>
            <a:ext cx="5577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Helvetica"/>
              </a:defRPr>
            </a:pPr>
            <a:r>
              <a:t>$2.50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8912" y="7790688"/>
            <a:ext cx="5980176" cy="210312"/>
          </a:xfrm>
          <a:prstGeom prst="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7808976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0F0F5"/>
                </a:solidFill>
                <a:latin typeface="Helvetica"/>
              </a:defRPr>
            </a:pPr>
            <a:r>
              <a:t>Packaging + assembly + test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7808976"/>
            <a:ext cx="5577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Helvetica"/>
              </a:defRPr>
            </a:pPr>
            <a:r>
              <a:t>$2.80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38912" y="8065008"/>
            <a:ext cx="5980176" cy="27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8640" y="80832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Total COGS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8083296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~$17.25  (5k: ~$13.50)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26480" y="82981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Hardest Problems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097280" cy="27432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6126480" cy="196596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1. Distinguishing shush-worthy noise from cafe ambiance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760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Helvetica"/>
              </a:defRPr>
            </a:pPr>
            <a:r>
              <a:t>The front mic picks up everything in the aimed direction -- the loud talker, but also music, dish clatter, espresso machines. The classifier must isolate sustained loud speech above the ambient baseline and hold for seconds before triggering. Too sensitive: shushes the barista. Too conservative: never fires.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246120"/>
            <a:ext cx="6126480" cy="196596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2. Making the shush sound convincingly human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760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Helvetica"/>
              </a:defRPr>
            </a:pPr>
            <a:r>
              <a:t>If the shush sounds electronic or robotic, the product fails socially. It needs to sound like a real person -- breathy, slightly variable, naturally timed. Speaker coloration, waveguide resonances, and enclosure vibration could add artifacts. Multiple recordings with randomized selection on each firing.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5440679"/>
            <a:ext cx="6126480" cy="196596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577839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3. Achieving useful directivity from a small speaker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43599"/>
            <a:ext cx="5760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Helvetica"/>
              </a:defRPr>
            </a:pPr>
            <a:r>
              <a:t>A 70mm puck with a 28mm speaker and short waveguide won't produce a tight beam. Target: ~4-6 dB front-to-side ratio at 2-4 kHz (the "shhh" frequency range). Enough to make the shush louder for the target than for people at 90 degrees, but not a laser. Waveguide geometry and speaker placement are critical.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7680960"/>
            <a:ext cx="6126480" cy="5486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7726679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8C00"/>
                </a:solidFill>
                <a:latin typeface="Helvetica"/>
              </a:defRPr>
            </a:pPr>
            <a:r>
              <a:t>All three require physical prototyping. Acoustic porting, waveguide geometry, and sound recording quality can only be validated by building and testing in real environments.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82981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4E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Gate Result &amp;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097280" cy="27432"/>
          </a:xfrm>
          <a:prstGeom prst="rect">
            <a:avLst/>
          </a:prstGeom>
          <a:solidFill>
            <a:srgbClr val="4E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6126480" cy="7772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828800" cy="5486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155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Helvetica"/>
              </a:defRPr>
            </a:pPr>
            <a:r>
              <a:t>GATE: 74 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8988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Helvetica"/>
              </a:defRPr>
            </a:pPr>
            <a:r>
              <a:t>74 pass / 6 N/A / 8 fail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17043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Helvetica"/>
              </a:defRPr>
            </a:pPr>
            <a:r>
              <a:t>System description complete.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4173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Helvetica"/>
              </a:defRPr>
            </a:pPr>
            <a:r>
              <a:t>8 items need prototype validation.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920240"/>
            <a:ext cx="6126480" cy="7772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6596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BF5"/>
                </a:solidFill>
                <a:latin typeface="Helvetica"/>
              </a:defRPr>
            </a:pPr>
            <a:r>
              <a:t>POWER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19456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Helvetica"/>
              </a:defRPr>
            </a:pPr>
            <a:r>
              <a:t>84 mA active  |  2.3 mA standby  |  1200 mAh battery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42316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Helvetica"/>
              </a:defRPr>
            </a:pPr>
            <a:r>
              <a:t>~3 days typical  |  USB-C charge  |  ~2.5 hr 0-100%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834640"/>
            <a:ext cx="6126480" cy="777240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88036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855F7"/>
                </a:solidFill>
                <a:latin typeface="Helvetica"/>
              </a:defRPr>
            </a:pPr>
            <a:r>
              <a:t>KEY SPECS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0896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Helvetica"/>
              </a:defRPr>
            </a:pPr>
            <a:r>
              <a:t>70mm x 15mm puck  |  ~65g  |  ESP32-S3  |  BLE 5.0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33756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Helvetica"/>
              </a:defRPr>
            </a:pPr>
            <a:r>
              <a:t>2 MEMS mics  |  Waveguide speaker  |  $50-70 retail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840480"/>
            <a:ext cx="6126480" cy="274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93192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Helvetica"/>
              </a:defRPr>
            </a:pPr>
            <a:r>
              <a:t>KEY OPEN ITEMS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206240"/>
            <a:ext cx="6126480" cy="347472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2702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00"/>
                </a:solidFill>
                <a:latin typeface="Helvetica"/>
              </a:defRPr>
            </a:pPr>
            <a:r>
              <a:t>M2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270248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  <a:latin typeface="Helvetica"/>
              </a:defRPr>
            </a:pPr>
            <a:r>
              <a:t>Cardioid mic porting: 10-15 dB front-to-rear rejection?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636007"/>
            <a:ext cx="6126480" cy="347472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700015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00"/>
                </a:solidFill>
                <a:latin typeface="Helvetica"/>
              </a:defRPr>
            </a:pPr>
            <a:r>
              <a:t>M2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700015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  <a:latin typeface="Helvetica"/>
              </a:defRPr>
            </a:pPr>
            <a:r>
              <a:t>Waveguide: &gt;4 dB front-to-side ratio at 2-4 kHz?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5065775"/>
            <a:ext cx="6126480" cy="347472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129783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00"/>
                </a:solidFill>
                <a:latin typeface="Helvetica"/>
              </a:defRPr>
            </a:pPr>
            <a:r>
              <a:t>M2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12978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  <a:latin typeface="Helvetica"/>
              </a:defRPr>
            </a:pPr>
            <a:r>
              <a:t>Shush naturalness through 28mm speaker in plastic enclosure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5495544"/>
            <a:ext cx="6126480" cy="347472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5595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00"/>
                </a:solidFill>
                <a:latin typeface="Helvetica"/>
              </a:defRPr>
            </a:pPr>
            <a:r>
              <a:t>M3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559552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  <a:latin typeface="Helvetica"/>
              </a:defRPr>
            </a:pPr>
            <a:r>
              <a:t>False positive rate in 5+ real cafe environments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5925312"/>
            <a:ext cx="6126480" cy="347472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9893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00"/>
                </a:solidFill>
                <a:latin typeface="Helvetica"/>
              </a:defRPr>
            </a:pPr>
            <a:r>
              <a:t>M2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989320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  <a:latin typeface="Helvetica"/>
              </a:defRPr>
            </a:pPr>
            <a:r>
              <a:t>ESP32-S3 BLE + dual-mic audio coexistence under load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6355079"/>
            <a:ext cx="6126480" cy="347472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6419087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00"/>
                </a:solidFill>
                <a:latin typeface="Helvetica"/>
              </a:defRPr>
            </a:pPr>
            <a:r>
              <a:t>M2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6419087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  <a:latin typeface="Helvetica"/>
              </a:defRPr>
            </a:pPr>
            <a:r>
              <a:t>Sound recording session: 20+ shush variants, 5 styles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6784848"/>
            <a:ext cx="6126480" cy="347472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84885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00"/>
                </a:solidFill>
                <a:latin typeface="Helvetica"/>
              </a:defRPr>
            </a:pPr>
            <a:r>
              <a:t>M1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684885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  <a:latin typeface="Helvetica"/>
              </a:defRPr>
            </a:pPr>
            <a:r>
              <a:t>Market positioning: $50 tool vs. $30 fun gadget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60" y="7214616"/>
            <a:ext cx="6126480" cy="347472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727862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00"/>
                </a:solidFill>
                <a:latin typeface="Helvetica"/>
              </a:defRPr>
            </a:pPr>
            <a:r>
              <a:t>M3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7278624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  <a:latin typeface="Helvetica"/>
              </a:defRPr>
            </a:pPr>
            <a:r>
              <a:t>DSP duty-cycle optimization for extended battery life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7726679"/>
            <a:ext cx="6126480" cy="5486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777240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Helvetica"/>
              </a:defRPr>
            </a:pPr>
            <a:r>
              <a:t>Next step: breadboard prototype on an ESP32-S3 devkit with two MEMS mics and a small speaker. Test the front/rear differential in a real cafe. Record the shush samples.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82981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