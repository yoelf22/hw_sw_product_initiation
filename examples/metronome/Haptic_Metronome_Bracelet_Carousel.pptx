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6858000" cy="8572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85800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457200"/>
            <a:ext cx="6126480" cy="548640"/>
          </a:xfrm>
          <a:prstGeom prst="rect">
            <a:avLst/>
          </a:prstGeom>
          <a:noFill/>
        </p:spPr>
        <p:txBody>
          <a:bodyPr wrap="square">
            <a:spAutoFit/>
          </a:bodyPr>
          <a:lstStyle/>
          <a:p>
            <a:pPr algn="l">
              <a:defRPr sz="3800" b="1">
                <a:solidFill>
                  <a:srgbClr val="FFFFFF"/>
                </a:solidFill>
                <a:latin typeface="Helvetica"/>
              </a:defRPr>
            </a:pPr>
            <a:r>
              <a:t>Haptic Metronome</a:t>
            </a:r>
          </a:p>
        </p:txBody>
      </p:sp>
      <p:sp>
        <p:nvSpPr>
          <p:cNvPr id="4" name="TextBox 3"/>
          <p:cNvSpPr txBox="1"/>
          <p:nvPr/>
        </p:nvSpPr>
        <p:spPr>
          <a:xfrm>
            <a:off x="365760" y="914400"/>
            <a:ext cx="6126480" cy="548640"/>
          </a:xfrm>
          <a:prstGeom prst="rect">
            <a:avLst/>
          </a:prstGeom>
          <a:noFill/>
        </p:spPr>
        <p:txBody>
          <a:bodyPr wrap="square">
            <a:spAutoFit/>
          </a:bodyPr>
          <a:lstStyle/>
          <a:p>
            <a:pPr algn="l">
              <a:defRPr sz="3800" b="1">
                <a:solidFill>
                  <a:srgbClr val="FFFFFF"/>
                </a:solidFill>
                <a:latin typeface="Helvetica"/>
              </a:defRPr>
            </a:pPr>
            <a:r>
              <a:t>Bracelet</a:t>
            </a:r>
          </a:p>
        </p:txBody>
      </p:sp>
      <p:sp>
        <p:nvSpPr>
          <p:cNvPr id="5" name="Rectangle 4"/>
          <p:cNvSpPr/>
          <p:nvPr/>
        </p:nvSpPr>
        <p:spPr>
          <a:xfrm>
            <a:off x="365760" y="1371600"/>
            <a:ext cx="1280160" cy="36576"/>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554480"/>
            <a:ext cx="6126480" cy="365760"/>
          </a:xfrm>
          <a:prstGeom prst="rect">
            <a:avLst/>
          </a:prstGeom>
          <a:noFill/>
        </p:spPr>
        <p:txBody>
          <a:bodyPr wrap="square">
            <a:spAutoFit/>
          </a:bodyPr>
          <a:lstStyle/>
          <a:p>
            <a:pPr algn="l">
              <a:defRPr sz="1800" b="0">
                <a:solidFill>
                  <a:srgbClr val="4EC978"/>
                </a:solidFill>
                <a:latin typeface="Helvetica"/>
              </a:defRPr>
            </a:pPr>
            <a:r>
              <a:t>Feel the beat. Hear nothing.</a:t>
            </a:r>
          </a:p>
        </p:txBody>
      </p:sp>
      <p:sp>
        <p:nvSpPr>
          <p:cNvPr id="7" name="TextBox 6"/>
          <p:cNvSpPr txBox="1"/>
          <p:nvPr/>
        </p:nvSpPr>
        <p:spPr>
          <a:xfrm>
            <a:off x="365760" y="2011680"/>
            <a:ext cx="6126480" cy="548640"/>
          </a:xfrm>
          <a:prstGeom prst="rect">
            <a:avLst/>
          </a:prstGeom>
          <a:noFill/>
        </p:spPr>
        <p:txBody>
          <a:bodyPr wrap="square">
            <a:spAutoFit/>
          </a:bodyPr>
          <a:lstStyle/>
          <a:p>
            <a:pPr algn="l">
              <a:defRPr sz="1100" b="0">
                <a:solidFill>
                  <a:srgbClr val="BBBBCC"/>
                </a:solidFill>
                <a:latin typeface="Helvetica"/>
              </a:defRPr>
            </a:pPr>
            <a:r>
              <a:t>A wrist-worn vibrotactile metronome for musicians who need silent, precise time -- practice, rehearsal, and stage.</a:t>
            </a:r>
          </a:p>
        </p:txBody>
      </p:sp>
      <p:pic>
        <p:nvPicPr>
          <p:cNvPr id="8" name="Picture 7" descr="cross_section_illustration_haptic_metronome.png"/>
          <p:cNvPicPr>
            <a:picLocks noChangeAspect="1"/>
          </p:cNvPicPr>
          <p:nvPr/>
        </p:nvPicPr>
        <p:blipFill>
          <a:blip r:embed="rId2"/>
          <a:stretch>
            <a:fillRect/>
          </a:stretch>
        </p:blipFill>
        <p:spPr>
          <a:xfrm>
            <a:off x="365760" y="2743200"/>
            <a:ext cx="6126480" cy="4846320"/>
          </a:xfrm>
          <a:prstGeom prst="rect">
            <a:avLst/>
          </a:prstGeom>
        </p:spPr>
      </p:pic>
      <p:sp>
        <p:nvSpPr>
          <p:cNvPr id="9" name="Rectangle 8"/>
          <p:cNvSpPr/>
          <p:nvPr/>
        </p:nvSpPr>
        <p:spPr>
          <a:xfrm>
            <a:off x="0" y="8252460"/>
            <a:ext cx="6858000" cy="320040"/>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8298180"/>
            <a:ext cx="6126480" cy="182880"/>
          </a:xfrm>
          <a:prstGeom prst="rect">
            <a:avLst/>
          </a:prstGeom>
          <a:noFill/>
        </p:spPr>
        <p:txBody>
          <a:bodyPr wrap="square">
            <a:spAutoFit/>
          </a:bodyPr>
          <a:lstStyle/>
          <a:p>
            <a:pPr algn="l">
              <a:defRPr sz="900" b="0">
                <a:solidFill>
                  <a:srgbClr val="BBBBCC"/>
                </a:solidFill>
                <a:latin typeface="Helvetica"/>
              </a:defRPr>
            </a:pPr>
            <a:r>
              <a:t>Product Overview  |  Concept Stage  |  2026</a:t>
            </a:r>
          </a:p>
        </p:txBody>
      </p:sp>
      <p:sp>
        <p:nvSpPr>
          <p:cNvPr id="11" name="TextBox 10"/>
          <p:cNvSpPr txBox="1"/>
          <p:nvPr/>
        </p:nvSpPr>
        <p:spPr>
          <a:xfrm>
            <a:off x="6126480" y="8298180"/>
            <a:ext cx="548640" cy="228600"/>
          </a:xfrm>
          <a:prstGeom prst="rect">
            <a:avLst/>
          </a:prstGeom>
          <a:noFill/>
        </p:spPr>
        <p:txBody>
          <a:bodyPr wrap="square">
            <a:spAutoFit/>
          </a:bodyPr>
          <a:lstStyle/>
          <a:p>
            <a:pPr algn="r">
              <a:defRPr sz="800" b="0">
                <a:solidFill>
                  <a:srgbClr val="BBBBCC"/>
                </a:solidFill>
                <a:latin typeface="Helvetica"/>
              </a:defRPr>
            </a:pPr>
            <a:r>
              <a:t>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858000" cy="73152"/>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6126480" cy="457200"/>
          </a:xfrm>
          <a:prstGeom prst="rect">
            <a:avLst/>
          </a:prstGeom>
          <a:noFill/>
        </p:spPr>
        <p:txBody>
          <a:bodyPr wrap="square">
            <a:spAutoFit/>
          </a:bodyPr>
          <a:lstStyle/>
          <a:p>
            <a:pPr algn="l">
              <a:defRPr sz="2800" b="1">
                <a:solidFill>
                  <a:srgbClr val="FFFFFF"/>
                </a:solidFill>
                <a:latin typeface="Helvetica"/>
              </a:defRPr>
            </a:pPr>
            <a:r>
              <a:t>The Problem</a:t>
            </a:r>
          </a:p>
        </p:txBody>
      </p:sp>
      <p:sp>
        <p:nvSpPr>
          <p:cNvPr id="4" name="Rectangle 3"/>
          <p:cNvSpPr/>
          <p:nvPr/>
        </p:nvSpPr>
        <p:spPr>
          <a:xfrm>
            <a:off x="365760" y="777240"/>
            <a:ext cx="1097280" cy="27432"/>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51560"/>
            <a:ext cx="6126480" cy="173736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051560"/>
            <a:ext cx="6126480" cy="54864"/>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34440"/>
            <a:ext cx="5760720" cy="274320"/>
          </a:xfrm>
          <a:prstGeom prst="rect">
            <a:avLst/>
          </a:prstGeom>
          <a:noFill/>
        </p:spPr>
        <p:txBody>
          <a:bodyPr wrap="square">
            <a:spAutoFit/>
          </a:bodyPr>
          <a:lstStyle/>
          <a:p>
            <a:pPr algn="l">
              <a:defRPr sz="1600" b="1">
                <a:solidFill>
                  <a:srgbClr val="FF4545"/>
                </a:solidFill>
                <a:latin typeface="Helvetica"/>
              </a:defRPr>
            </a:pPr>
            <a:r>
              <a:t>Audible clicks are unusable on stage</a:t>
            </a:r>
          </a:p>
        </p:txBody>
      </p:sp>
      <p:sp>
        <p:nvSpPr>
          <p:cNvPr id="8" name="TextBox 7"/>
          <p:cNvSpPr txBox="1"/>
          <p:nvPr/>
        </p:nvSpPr>
        <p:spPr>
          <a:xfrm>
            <a:off x="548640" y="1645920"/>
            <a:ext cx="5760720" cy="914400"/>
          </a:xfrm>
          <a:prstGeom prst="rect">
            <a:avLst/>
          </a:prstGeom>
          <a:noFill/>
        </p:spPr>
        <p:txBody>
          <a:bodyPr wrap="square">
            <a:spAutoFit/>
          </a:bodyPr>
          <a:lstStyle/>
          <a:p>
            <a:pPr algn="l">
              <a:defRPr sz="1100" b="0">
                <a:solidFill>
                  <a:srgbClr val="BBBBCC"/>
                </a:solidFill>
                <a:latin typeface="Helvetica"/>
              </a:defRPr>
            </a:pPr>
            <a:r>
              <a:t>Click tracks bleed into microphones, in-ear monitors isolate from the room, and audible metronomes distract the audience.</a:t>
            </a:r>
          </a:p>
        </p:txBody>
      </p:sp>
      <p:sp>
        <p:nvSpPr>
          <p:cNvPr id="9" name="Rounded Rectangle 8"/>
          <p:cNvSpPr/>
          <p:nvPr/>
        </p:nvSpPr>
        <p:spPr>
          <a:xfrm>
            <a:off x="365760" y="3017520"/>
            <a:ext cx="6126480" cy="173736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3017520"/>
            <a:ext cx="612648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3200400"/>
            <a:ext cx="5760720" cy="274320"/>
          </a:xfrm>
          <a:prstGeom prst="rect">
            <a:avLst/>
          </a:prstGeom>
          <a:noFill/>
        </p:spPr>
        <p:txBody>
          <a:bodyPr wrap="square">
            <a:spAutoFit/>
          </a:bodyPr>
          <a:lstStyle/>
          <a:p>
            <a:pPr algn="l">
              <a:defRPr sz="1600" b="1">
                <a:solidFill>
                  <a:srgbClr val="FF8C00"/>
                </a:solidFill>
                <a:latin typeface="Helvetica"/>
              </a:defRPr>
            </a:pPr>
            <a:r>
              <a:t>Phone apps are imprecise</a:t>
            </a:r>
          </a:p>
        </p:txBody>
      </p:sp>
      <p:sp>
        <p:nvSpPr>
          <p:cNvPr id="12" name="TextBox 11"/>
          <p:cNvSpPr txBox="1"/>
          <p:nvPr/>
        </p:nvSpPr>
        <p:spPr>
          <a:xfrm>
            <a:off x="548640" y="3611880"/>
            <a:ext cx="5760720" cy="914400"/>
          </a:xfrm>
          <a:prstGeom prst="rect">
            <a:avLst/>
          </a:prstGeom>
          <a:noFill/>
        </p:spPr>
        <p:txBody>
          <a:bodyPr wrap="square">
            <a:spAutoFit/>
          </a:bodyPr>
          <a:lstStyle/>
          <a:p>
            <a:pPr algn="l">
              <a:defRPr sz="1100" b="0">
                <a:solidFill>
                  <a:srgbClr val="BBBBCC"/>
                </a:solidFill>
                <a:latin typeface="Helvetica"/>
              </a:defRPr>
            </a:pPr>
            <a:r>
              <a:t>Android audio latency: 5-40 ms. iOS: 5-15 ms. OS interrupts and background tasks cause timing jitter. Phone vibration motors are too slow and vague for musical time.</a:t>
            </a:r>
          </a:p>
        </p:txBody>
      </p:sp>
      <p:sp>
        <p:nvSpPr>
          <p:cNvPr id="13" name="Rounded Rectangle 12"/>
          <p:cNvSpPr/>
          <p:nvPr/>
        </p:nvSpPr>
        <p:spPr>
          <a:xfrm>
            <a:off x="365760" y="4983479"/>
            <a:ext cx="6126480" cy="173736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4983479"/>
            <a:ext cx="6126480" cy="54864"/>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166359"/>
            <a:ext cx="5760720" cy="274320"/>
          </a:xfrm>
          <a:prstGeom prst="rect">
            <a:avLst/>
          </a:prstGeom>
          <a:noFill/>
        </p:spPr>
        <p:txBody>
          <a:bodyPr wrap="square">
            <a:spAutoFit/>
          </a:bodyPr>
          <a:lstStyle/>
          <a:p>
            <a:pPr algn="l">
              <a:defRPr sz="1600" b="1">
                <a:solidFill>
                  <a:srgbClr val="FF8C00"/>
                </a:solidFill>
                <a:latin typeface="Helvetica"/>
              </a:defRPr>
            </a:pPr>
            <a:r>
              <a:t>Existing solutions compromise</a:t>
            </a:r>
          </a:p>
        </p:txBody>
      </p:sp>
      <p:sp>
        <p:nvSpPr>
          <p:cNvPr id="16" name="TextBox 15"/>
          <p:cNvSpPr txBox="1"/>
          <p:nvPr/>
        </p:nvSpPr>
        <p:spPr>
          <a:xfrm>
            <a:off x="548640" y="5577839"/>
            <a:ext cx="5760720" cy="914400"/>
          </a:xfrm>
          <a:prstGeom prst="rect">
            <a:avLst/>
          </a:prstGeom>
          <a:noFill/>
        </p:spPr>
        <p:txBody>
          <a:bodyPr wrap="square">
            <a:spAutoFit/>
          </a:bodyPr>
          <a:lstStyle/>
          <a:p>
            <a:pPr algn="l">
              <a:defRPr sz="1100" b="0">
                <a:solidFill>
                  <a:srgbClr val="BBBBCC"/>
                </a:solidFill>
                <a:latin typeface="Helvetica"/>
              </a:defRPr>
            </a:pPr>
            <a:r>
              <a:t>Earpiece click tracks occupy an ear. Visual metronomes require looking away from the music. There is no silent, precise, hands-free time reference that leaves both ears and eyes open.</a:t>
            </a:r>
          </a:p>
        </p:txBody>
      </p:sp>
      <p:sp>
        <p:nvSpPr>
          <p:cNvPr id="17" name="Rounded Rectangle 16"/>
          <p:cNvSpPr/>
          <p:nvPr/>
        </p:nvSpPr>
        <p:spPr>
          <a:xfrm>
            <a:off x="365760" y="7040880"/>
            <a:ext cx="6126480" cy="109728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7132320"/>
            <a:ext cx="6126480" cy="182880"/>
          </a:xfrm>
          <a:prstGeom prst="rect">
            <a:avLst/>
          </a:prstGeom>
          <a:noFill/>
        </p:spPr>
        <p:txBody>
          <a:bodyPr wrap="square">
            <a:spAutoFit/>
          </a:bodyPr>
          <a:lstStyle/>
          <a:p>
            <a:pPr algn="l">
              <a:defRPr sz="1000" b="1">
                <a:solidFill>
                  <a:srgbClr val="A855F7"/>
                </a:solidFill>
                <a:latin typeface="Helvetica"/>
              </a:defRPr>
            </a:pPr>
            <a:r>
              <a:t>TARGET USERS</a:t>
            </a:r>
          </a:p>
        </p:txBody>
      </p:sp>
      <p:sp>
        <p:nvSpPr>
          <p:cNvPr id="19" name="TextBox 18"/>
          <p:cNvSpPr txBox="1"/>
          <p:nvPr/>
        </p:nvSpPr>
        <p:spPr>
          <a:xfrm>
            <a:off x="502920" y="7406640"/>
            <a:ext cx="6126480" cy="228600"/>
          </a:xfrm>
          <a:prstGeom prst="rect">
            <a:avLst/>
          </a:prstGeom>
          <a:noFill/>
        </p:spPr>
        <p:txBody>
          <a:bodyPr wrap="square">
            <a:spAutoFit/>
          </a:bodyPr>
          <a:lstStyle/>
          <a:p>
            <a:pPr algn="l">
              <a:defRPr sz="1200" b="1">
                <a:solidFill>
                  <a:srgbClr val="FFFFFF"/>
                </a:solidFill>
                <a:latin typeface="Helvetica"/>
              </a:defRPr>
            </a:pPr>
            <a:r>
              <a:t>Guitarists  |  Pianists  |  String players</a:t>
            </a:r>
          </a:p>
        </p:txBody>
      </p:sp>
      <p:sp>
        <p:nvSpPr>
          <p:cNvPr id="20" name="TextBox 19"/>
          <p:cNvSpPr txBox="1"/>
          <p:nvPr/>
        </p:nvSpPr>
        <p:spPr>
          <a:xfrm>
            <a:off x="502920" y="7726679"/>
            <a:ext cx="6126480" cy="228600"/>
          </a:xfrm>
          <a:prstGeom prst="rect">
            <a:avLst/>
          </a:prstGeom>
          <a:noFill/>
        </p:spPr>
        <p:txBody>
          <a:bodyPr wrap="square">
            <a:spAutoFit/>
          </a:bodyPr>
          <a:lstStyle/>
          <a:p>
            <a:pPr algn="l">
              <a:defRPr sz="1200" b="1">
                <a:solidFill>
                  <a:srgbClr val="FFFFFF"/>
                </a:solidFill>
                <a:latin typeface="Helvetica"/>
              </a:defRPr>
            </a:pPr>
            <a:r>
              <a:t>Wind &amp; brass  |  Vocalists  |  Conductors</a:t>
            </a:r>
          </a:p>
        </p:txBody>
      </p:sp>
      <p:sp>
        <p:nvSpPr>
          <p:cNvPr id="21" name="TextBox 20"/>
          <p:cNvSpPr txBox="1"/>
          <p:nvPr/>
        </p:nvSpPr>
        <p:spPr>
          <a:xfrm>
            <a:off x="6126480" y="8298180"/>
            <a:ext cx="548640" cy="228600"/>
          </a:xfrm>
          <a:prstGeom prst="rect">
            <a:avLst/>
          </a:prstGeom>
          <a:noFill/>
        </p:spPr>
        <p:txBody>
          <a:bodyPr wrap="square">
            <a:spAutoFit/>
          </a:bodyPr>
          <a:lstStyle/>
          <a:p>
            <a:pPr algn="r">
              <a:defRPr sz="800" b="0">
                <a:solidFill>
                  <a:srgbClr val="BBBBCC"/>
                </a:solidFill>
                <a:latin typeface="Helvetica"/>
              </a:defRPr>
            </a:pPr>
            <a:r>
              <a:t>2/8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858000" cy="73152"/>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6126480" cy="457200"/>
          </a:xfrm>
          <a:prstGeom prst="rect">
            <a:avLst/>
          </a:prstGeom>
          <a:noFill/>
        </p:spPr>
        <p:txBody>
          <a:bodyPr wrap="square">
            <a:spAutoFit/>
          </a:bodyPr>
          <a:lstStyle/>
          <a:p>
            <a:pPr algn="l">
              <a:defRPr sz="2800" b="1">
                <a:solidFill>
                  <a:srgbClr val="FFFFFF"/>
                </a:solidFill>
                <a:latin typeface="Helvetica"/>
              </a:defRPr>
            </a:pPr>
            <a:r>
              <a:t>How It Works</a:t>
            </a:r>
          </a:p>
        </p:txBody>
      </p:sp>
      <p:sp>
        <p:nvSpPr>
          <p:cNvPr id="4" name="Rectangle 3"/>
          <p:cNvSpPr/>
          <p:nvPr/>
        </p:nvSpPr>
        <p:spPr>
          <a:xfrm>
            <a:off x="365760" y="777240"/>
            <a:ext cx="1097280" cy="27432"/>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05840"/>
            <a:ext cx="6126480" cy="155448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97280"/>
            <a:ext cx="2743200" cy="320040"/>
          </a:xfrm>
          <a:prstGeom prst="rect">
            <a:avLst/>
          </a:prstGeom>
          <a:noFill/>
        </p:spPr>
        <p:txBody>
          <a:bodyPr wrap="square">
            <a:spAutoFit/>
          </a:bodyPr>
          <a:lstStyle/>
          <a:p>
            <a:pPr algn="l">
              <a:defRPr sz="1800" b="1">
                <a:solidFill>
                  <a:srgbClr val="009BF5"/>
                </a:solidFill>
                <a:latin typeface="Helvetica"/>
              </a:defRPr>
            </a:pPr>
            <a:r>
              <a:t>1. Set</a:t>
            </a:r>
          </a:p>
        </p:txBody>
      </p:sp>
      <p:sp>
        <p:nvSpPr>
          <p:cNvPr id="7" name="TextBox 6"/>
          <p:cNvSpPr txBox="1"/>
          <p:nvPr/>
        </p:nvSpPr>
        <p:spPr>
          <a:xfrm>
            <a:off x="548640" y="1417320"/>
            <a:ext cx="5760720" cy="228600"/>
          </a:xfrm>
          <a:prstGeom prst="rect">
            <a:avLst/>
          </a:prstGeom>
          <a:noFill/>
        </p:spPr>
        <p:txBody>
          <a:bodyPr wrap="square">
            <a:spAutoFit/>
          </a:bodyPr>
          <a:lstStyle/>
          <a:p>
            <a:pPr algn="l">
              <a:defRPr sz="1100" b="1">
                <a:solidFill>
                  <a:srgbClr val="FFFFFF"/>
                </a:solidFill>
                <a:latin typeface="Helvetica"/>
              </a:defRPr>
            </a:pPr>
            <a:r>
              <a:t>Open app, set BPM and time signature</a:t>
            </a:r>
          </a:p>
        </p:txBody>
      </p:sp>
      <p:sp>
        <p:nvSpPr>
          <p:cNvPr id="8" name="TextBox 7"/>
          <p:cNvSpPr txBox="1"/>
          <p:nvPr/>
        </p:nvSpPr>
        <p:spPr>
          <a:xfrm>
            <a:off x="548640" y="1737360"/>
            <a:ext cx="5760720" cy="731520"/>
          </a:xfrm>
          <a:prstGeom prst="rect">
            <a:avLst/>
          </a:prstGeom>
          <a:noFill/>
        </p:spPr>
        <p:txBody>
          <a:bodyPr wrap="square">
            <a:spAutoFit/>
          </a:bodyPr>
          <a:lstStyle/>
          <a:p>
            <a:pPr algn="l">
              <a:defRPr sz="1000" b="0">
                <a:solidFill>
                  <a:srgbClr val="BBBBCC"/>
                </a:solidFill>
                <a:latin typeface="Helvetica"/>
              </a:defRPr>
            </a:pPr>
            <a:r>
              <a:t>App pushes config over BLE to the bracelet. Save presets and setlists for quick recall.</a:t>
            </a:r>
          </a:p>
        </p:txBody>
      </p:sp>
      <p:sp>
        <p:nvSpPr>
          <p:cNvPr id="9" name="Rounded Rectangle 8"/>
          <p:cNvSpPr/>
          <p:nvPr/>
        </p:nvSpPr>
        <p:spPr>
          <a:xfrm>
            <a:off x="365760" y="2788920"/>
            <a:ext cx="6126480" cy="155448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880360"/>
            <a:ext cx="2743200" cy="320040"/>
          </a:xfrm>
          <a:prstGeom prst="rect">
            <a:avLst/>
          </a:prstGeom>
          <a:noFill/>
        </p:spPr>
        <p:txBody>
          <a:bodyPr wrap="square">
            <a:spAutoFit/>
          </a:bodyPr>
          <a:lstStyle/>
          <a:p>
            <a:pPr algn="l">
              <a:defRPr sz="1800" b="1">
                <a:solidFill>
                  <a:srgbClr val="4EC978"/>
                </a:solidFill>
                <a:latin typeface="Helvetica"/>
              </a:defRPr>
            </a:pPr>
            <a:r>
              <a:t>2. Tap</a:t>
            </a:r>
          </a:p>
        </p:txBody>
      </p:sp>
      <p:sp>
        <p:nvSpPr>
          <p:cNvPr id="11" name="TextBox 10"/>
          <p:cNvSpPr txBox="1"/>
          <p:nvPr/>
        </p:nvSpPr>
        <p:spPr>
          <a:xfrm>
            <a:off x="548640" y="3200400"/>
            <a:ext cx="5760720" cy="228600"/>
          </a:xfrm>
          <a:prstGeom prst="rect">
            <a:avLst/>
          </a:prstGeom>
          <a:noFill/>
        </p:spPr>
        <p:txBody>
          <a:bodyPr wrap="square">
            <a:spAutoFit/>
          </a:bodyPr>
          <a:lstStyle/>
          <a:p>
            <a:pPr algn="l">
              <a:defRPr sz="1100" b="1">
                <a:solidFill>
                  <a:srgbClr val="FFFFFF"/>
                </a:solidFill>
                <a:latin typeface="Helvetica"/>
              </a:defRPr>
            </a:pPr>
            <a:r>
              <a:t>Tap the bracelet to start</a:t>
            </a:r>
          </a:p>
        </p:txBody>
      </p:sp>
      <p:sp>
        <p:nvSpPr>
          <p:cNvPr id="12" name="TextBox 11"/>
          <p:cNvSpPr txBox="1"/>
          <p:nvPr/>
        </p:nvSpPr>
        <p:spPr>
          <a:xfrm>
            <a:off x="548640" y="3520440"/>
            <a:ext cx="5760720" cy="731520"/>
          </a:xfrm>
          <a:prstGeom prst="rect">
            <a:avLst/>
          </a:prstGeom>
          <a:noFill/>
        </p:spPr>
        <p:txBody>
          <a:bodyPr wrap="square">
            <a:spAutoFit/>
          </a:bodyPr>
          <a:lstStyle/>
          <a:p>
            <a:pPr algn="l">
              <a:defRPr sz="1000" b="0">
                <a:solidFill>
                  <a:srgbClr val="BBBBCC"/>
                </a:solidFill>
                <a:latin typeface="Helvetica"/>
              </a:defRPr>
            </a:pPr>
            <a:r>
              <a:t>Accelerometer detects a fingertip tap on the pod. Haptic pulses begin immediately. LED flashes on beat for the first 4 bars as a sanity check, then goes dark.</a:t>
            </a:r>
          </a:p>
        </p:txBody>
      </p:sp>
      <p:sp>
        <p:nvSpPr>
          <p:cNvPr id="13" name="Rounded Rectangle 12"/>
          <p:cNvSpPr/>
          <p:nvPr/>
        </p:nvSpPr>
        <p:spPr>
          <a:xfrm>
            <a:off x="365760" y="4572000"/>
            <a:ext cx="6126480" cy="155448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663440"/>
            <a:ext cx="2743200" cy="320040"/>
          </a:xfrm>
          <a:prstGeom prst="rect">
            <a:avLst/>
          </a:prstGeom>
          <a:noFill/>
        </p:spPr>
        <p:txBody>
          <a:bodyPr wrap="square">
            <a:spAutoFit/>
          </a:bodyPr>
          <a:lstStyle/>
          <a:p>
            <a:pPr algn="l">
              <a:defRPr sz="1800" b="1">
                <a:solidFill>
                  <a:srgbClr val="A855F7"/>
                </a:solidFill>
                <a:latin typeface="Helvetica"/>
              </a:defRPr>
            </a:pPr>
            <a:r>
              <a:t>3. Feel</a:t>
            </a:r>
          </a:p>
        </p:txBody>
      </p:sp>
      <p:sp>
        <p:nvSpPr>
          <p:cNvPr id="15" name="TextBox 14"/>
          <p:cNvSpPr txBox="1"/>
          <p:nvPr/>
        </p:nvSpPr>
        <p:spPr>
          <a:xfrm>
            <a:off x="548640" y="4983480"/>
            <a:ext cx="5760720" cy="228600"/>
          </a:xfrm>
          <a:prstGeom prst="rect">
            <a:avLst/>
          </a:prstGeom>
          <a:noFill/>
        </p:spPr>
        <p:txBody>
          <a:bodyPr wrap="square">
            <a:spAutoFit/>
          </a:bodyPr>
          <a:lstStyle/>
          <a:p>
            <a:pPr algn="l">
              <a:defRPr sz="1100" b="1">
                <a:solidFill>
                  <a:srgbClr val="FFFFFF"/>
                </a:solidFill>
                <a:latin typeface="Helvetica"/>
              </a:defRPr>
            </a:pPr>
            <a:r>
              <a:t>Feel the beat on your wrist</a:t>
            </a:r>
          </a:p>
        </p:txBody>
      </p:sp>
      <p:sp>
        <p:nvSpPr>
          <p:cNvPr id="16" name="TextBox 15"/>
          <p:cNvSpPr txBox="1"/>
          <p:nvPr/>
        </p:nvSpPr>
        <p:spPr>
          <a:xfrm>
            <a:off x="548640" y="5303520"/>
            <a:ext cx="5760720" cy="731520"/>
          </a:xfrm>
          <a:prstGeom prst="rect">
            <a:avLst/>
          </a:prstGeom>
          <a:noFill/>
        </p:spPr>
        <p:txBody>
          <a:bodyPr wrap="square">
            <a:spAutoFit/>
          </a:bodyPr>
          <a:lstStyle/>
          <a:p>
            <a:pPr algn="l">
              <a:defRPr sz="1000" b="0">
                <a:solidFill>
                  <a:srgbClr val="BBBBCC"/>
                </a:solidFill>
                <a:latin typeface="Helvetica"/>
              </a:defRPr>
            </a:pPr>
            <a:r>
              <a:t>Single pulse = normal beat (~15 ms crisp tap). Dual-pulse = downbeat ("da-dum", two taps 40 ms apart). You always know where beat 1 is.</a:t>
            </a:r>
          </a:p>
        </p:txBody>
      </p:sp>
      <p:sp>
        <p:nvSpPr>
          <p:cNvPr id="17" name="Rounded Rectangle 16"/>
          <p:cNvSpPr/>
          <p:nvPr/>
        </p:nvSpPr>
        <p:spPr>
          <a:xfrm>
            <a:off x="365760" y="6355079"/>
            <a:ext cx="6126480" cy="155448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6446519"/>
            <a:ext cx="2743200" cy="320040"/>
          </a:xfrm>
          <a:prstGeom prst="rect">
            <a:avLst/>
          </a:prstGeom>
          <a:noFill/>
        </p:spPr>
        <p:txBody>
          <a:bodyPr wrap="square">
            <a:spAutoFit/>
          </a:bodyPr>
          <a:lstStyle/>
          <a:p>
            <a:pPr algn="l">
              <a:defRPr sz="1800" b="1">
                <a:solidFill>
                  <a:srgbClr val="FF8C00"/>
                </a:solidFill>
                <a:latin typeface="Helvetica"/>
              </a:defRPr>
            </a:pPr>
            <a:r>
              <a:t>4. Stop</a:t>
            </a:r>
          </a:p>
        </p:txBody>
      </p:sp>
      <p:sp>
        <p:nvSpPr>
          <p:cNvPr id="19" name="TextBox 18"/>
          <p:cNvSpPr txBox="1"/>
          <p:nvPr/>
        </p:nvSpPr>
        <p:spPr>
          <a:xfrm>
            <a:off x="548640" y="6766559"/>
            <a:ext cx="5760720" cy="228600"/>
          </a:xfrm>
          <a:prstGeom prst="rect">
            <a:avLst/>
          </a:prstGeom>
          <a:noFill/>
        </p:spPr>
        <p:txBody>
          <a:bodyPr wrap="square">
            <a:spAutoFit/>
          </a:bodyPr>
          <a:lstStyle/>
          <a:p>
            <a:pPr algn="l">
              <a:defRPr sz="1100" b="1">
                <a:solidFill>
                  <a:srgbClr val="FFFFFF"/>
                </a:solidFill>
                <a:latin typeface="Helvetica"/>
              </a:defRPr>
            </a:pPr>
            <a:r>
              <a:t>Double-tap to stop</a:t>
            </a:r>
          </a:p>
        </p:txBody>
      </p:sp>
      <p:sp>
        <p:nvSpPr>
          <p:cNvPr id="20" name="TextBox 19"/>
          <p:cNvSpPr txBox="1"/>
          <p:nvPr/>
        </p:nvSpPr>
        <p:spPr>
          <a:xfrm>
            <a:off x="548640" y="7086599"/>
            <a:ext cx="5760720" cy="731520"/>
          </a:xfrm>
          <a:prstGeom prst="rect">
            <a:avLst/>
          </a:prstGeom>
          <a:noFill/>
        </p:spPr>
        <p:txBody>
          <a:bodyPr wrap="square">
            <a:spAutoFit/>
          </a:bodyPr>
          <a:lstStyle/>
          <a:p>
            <a:pPr algn="l">
              <a:defRPr sz="1000" b="0">
                <a:solidFill>
                  <a:srgbClr val="BBBBCC"/>
                </a:solidFill>
                <a:latin typeface="Helvetica"/>
              </a:defRPr>
            </a:pPr>
            <a:r>
              <a:t>Accelerometer detects the double-tap gesture. Pulses stop. Device goes to low-power idle, ready for the next tap.</a:t>
            </a:r>
          </a:p>
        </p:txBody>
      </p:sp>
      <p:sp>
        <p:nvSpPr>
          <p:cNvPr id="21" name="TextBox 20"/>
          <p:cNvSpPr txBox="1"/>
          <p:nvPr/>
        </p:nvSpPr>
        <p:spPr>
          <a:xfrm>
            <a:off x="6126480" y="8298180"/>
            <a:ext cx="548640" cy="228600"/>
          </a:xfrm>
          <a:prstGeom prst="rect">
            <a:avLst/>
          </a:prstGeom>
          <a:noFill/>
        </p:spPr>
        <p:txBody>
          <a:bodyPr wrap="square">
            <a:spAutoFit/>
          </a:bodyPr>
          <a:lstStyle/>
          <a:p>
            <a:pPr algn="r">
              <a:defRPr sz="800" b="0">
                <a:solidFill>
                  <a:srgbClr val="BBBBCC"/>
                </a:solidFill>
                <a:latin typeface="Helvetica"/>
              </a:defRPr>
            </a:pPr>
            <a:r>
              <a:t>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858000" cy="73152"/>
          </a:xfrm>
          <a:prstGeom prst="rect">
            <a:avLst/>
          </a:prstGeom>
          <a:solidFill>
            <a:srgbClr val="00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6126480" cy="457200"/>
          </a:xfrm>
          <a:prstGeom prst="rect">
            <a:avLst/>
          </a:prstGeom>
          <a:noFill/>
        </p:spPr>
        <p:txBody>
          <a:bodyPr wrap="square">
            <a:spAutoFit/>
          </a:bodyPr>
          <a:lstStyle/>
          <a:p>
            <a:pPr algn="l">
              <a:defRPr sz="2800" b="1">
                <a:solidFill>
                  <a:srgbClr val="FFFFFF"/>
                </a:solidFill>
                <a:latin typeface="Helvetica"/>
              </a:defRPr>
            </a:pPr>
            <a:r>
              <a:t>Architecture</a:t>
            </a:r>
          </a:p>
        </p:txBody>
      </p:sp>
      <p:sp>
        <p:nvSpPr>
          <p:cNvPr id="4" name="Rectangle 3"/>
          <p:cNvSpPr/>
          <p:nvPr/>
        </p:nvSpPr>
        <p:spPr>
          <a:xfrm>
            <a:off x="365760" y="777240"/>
            <a:ext cx="1097280" cy="27432"/>
          </a:xfrm>
          <a:prstGeom prst="rect">
            <a:avLst/>
          </a:prstGeom>
          <a:solidFill>
            <a:srgbClr val="00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05840"/>
            <a:ext cx="6126480" cy="100584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6126480" cy="182880"/>
          </a:xfrm>
          <a:prstGeom prst="rect">
            <a:avLst/>
          </a:prstGeom>
          <a:noFill/>
        </p:spPr>
        <p:txBody>
          <a:bodyPr wrap="square">
            <a:spAutoFit/>
          </a:bodyPr>
          <a:lstStyle/>
          <a:p>
            <a:pPr algn="l">
              <a:defRPr sz="1100" b="1">
                <a:solidFill>
                  <a:srgbClr val="009BF5"/>
                </a:solidFill>
                <a:latin typeface="Helvetica"/>
              </a:defRPr>
            </a:pPr>
            <a:r>
              <a:t>Beat Signal Chain</a:t>
            </a:r>
          </a:p>
        </p:txBody>
      </p:sp>
      <p:sp>
        <p:nvSpPr>
          <p:cNvPr id="7" name="TextBox 6"/>
          <p:cNvSpPr txBox="1"/>
          <p:nvPr/>
        </p:nvSpPr>
        <p:spPr>
          <a:xfrm>
            <a:off x="502920" y="1325880"/>
            <a:ext cx="6126480" cy="228600"/>
          </a:xfrm>
          <a:prstGeom prst="rect">
            <a:avLst/>
          </a:prstGeom>
          <a:noFill/>
        </p:spPr>
        <p:txBody>
          <a:bodyPr wrap="square">
            <a:spAutoFit/>
          </a:bodyPr>
          <a:lstStyle/>
          <a:p>
            <a:pPr algn="l">
              <a:defRPr sz="1200" b="1">
                <a:solidFill>
                  <a:srgbClr val="FFFFFF"/>
                </a:solidFill>
                <a:latin typeface="Helvetica"/>
              </a:defRPr>
            </a:pPr>
            <a:r>
              <a:t>Timer ISR  --&gt;  I2C cmd  --&gt;  DRV2605L  --&gt;  LRA motor</a:t>
            </a:r>
          </a:p>
        </p:txBody>
      </p:sp>
      <p:sp>
        <p:nvSpPr>
          <p:cNvPr id="8" name="TextBox 7"/>
          <p:cNvSpPr txBox="1"/>
          <p:nvPr/>
        </p:nvSpPr>
        <p:spPr>
          <a:xfrm>
            <a:off x="502920" y="1645920"/>
            <a:ext cx="6126480" cy="182880"/>
          </a:xfrm>
          <a:prstGeom prst="rect">
            <a:avLst/>
          </a:prstGeom>
          <a:noFill/>
        </p:spPr>
        <p:txBody>
          <a:bodyPr wrap="square">
            <a:spAutoFit/>
          </a:bodyPr>
          <a:lstStyle/>
          <a:p>
            <a:pPr algn="l">
              <a:defRPr sz="800" b="0">
                <a:solidFill>
                  <a:srgbClr val="BBBBCC"/>
                </a:solidFill>
                <a:latin typeface="Helvetica"/>
              </a:defRPr>
            </a:pPr>
            <a:r>
              <a:t>&lt; 100 us jitter      waveform select     shaped drive     crisp tap on wrist</a:t>
            </a:r>
          </a:p>
        </p:txBody>
      </p:sp>
      <p:sp>
        <p:nvSpPr>
          <p:cNvPr id="9" name="Rounded Rectangle 8"/>
          <p:cNvSpPr/>
          <p:nvPr/>
        </p:nvSpPr>
        <p:spPr>
          <a:xfrm>
            <a:off x="365760" y="2148840"/>
            <a:ext cx="6126480" cy="77724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194560"/>
            <a:ext cx="6126480" cy="182880"/>
          </a:xfrm>
          <a:prstGeom prst="rect">
            <a:avLst/>
          </a:prstGeom>
          <a:noFill/>
        </p:spPr>
        <p:txBody>
          <a:bodyPr wrap="square">
            <a:spAutoFit/>
          </a:bodyPr>
          <a:lstStyle/>
          <a:p>
            <a:pPr algn="l">
              <a:defRPr sz="1100" b="1">
                <a:solidFill>
                  <a:srgbClr val="4EC978"/>
                </a:solidFill>
                <a:latin typeface="Helvetica"/>
              </a:defRPr>
            </a:pPr>
            <a:r>
              <a:t>Gesture Chain</a:t>
            </a:r>
          </a:p>
        </p:txBody>
      </p:sp>
      <p:sp>
        <p:nvSpPr>
          <p:cNvPr id="11" name="TextBox 10"/>
          <p:cNvSpPr txBox="1"/>
          <p:nvPr/>
        </p:nvSpPr>
        <p:spPr>
          <a:xfrm>
            <a:off x="502920" y="2468880"/>
            <a:ext cx="6126480" cy="228600"/>
          </a:xfrm>
          <a:prstGeom prst="rect">
            <a:avLst/>
          </a:prstGeom>
          <a:noFill/>
        </p:spPr>
        <p:txBody>
          <a:bodyPr wrap="square">
            <a:spAutoFit/>
          </a:bodyPr>
          <a:lstStyle/>
          <a:p>
            <a:pPr algn="l">
              <a:defRPr sz="1000" b="1">
                <a:solidFill>
                  <a:srgbClr val="FFFFFF"/>
                </a:solidFill>
                <a:latin typeface="Helvetica"/>
              </a:defRPr>
            </a:pPr>
            <a:r>
              <a:t>Tap on pod  --&gt;  LIS2DH12 interrupt  --&gt;  FW validation  --&gt;  Start/Stop</a:t>
            </a:r>
          </a:p>
        </p:txBody>
      </p:sp>
      <p:sp>
        <p:nvSpPr>
          <p:cNvPr id="12" name="Rectangle 11"/>
          <p:cNvSpPr/>
          <p:nvPr/>
        </p:nvSpPr>
        <p:spPr>
          <a:xfrm>
            <a:off x="365760" y="3108960"/>
            <a:ext cx="6126480" cy="27432"/>
          </a:xfrm>
          <a:prstGeom prst="rect">
            <a:avLst/>
          </a:prstGeom>
          <a:solidFill>
            <a:srgbClr val="00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3200400"/>
            <a:ext cx="6126480" cy="182880"/>
          </a:xfrm>
          <a:prstGeom prst="rect">
            <a:avLst/>
          </a:prstGeom>
          <a:noFill/>
        </p:spPr>
        <p:txBody>
          <a:bodyPr wrap="square">
            <a:spAutoFit/>
          </a:bodyPr>
          <a:lstStyle/>
          <a:p>
            <a:pPr algn="l">
              <a:defRPr sz="1100" b="1">
                <a:solidFill>
                  <a:srgbClr val="009BF5"/>
                </a:solidFill>
                <a:latin typeface="Helvetica"/>
              </a:defRPr>
            </a:pPr>
            <a:r>
              <a:t>SUBSYSTEMS</a:t>
            </a:r>
          </a:p>
        </p:txBody>
      </p:sp>
      <p:sp>
        <p:nvSpPr>
          <p:cNvPr id="14" name="Rounded Rectangle 13"/>
          <p:cNvSpPr/>
          <p:nvPr/>
        </p:nvSpPr>
        <p:spPr>
          <a:xfrm>
            <a:off x="365760" y="3474720"/>
            <a:ext cx="6126480" cy="50292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3474720"/>
            <a:ext cx="54864" cy="502920"/>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502152"/>
            <a:ext cx="6126480" cy="182880"/>
          </a:xfrm>
          <a:prstGeom prst="rect">
            <a:avLst/>
          </a:prstGeom>
          <a:noFill/>
        </p:spPr>
        <p:txBody>
          <a:bodyPr wrap="square">
            <a:spAutoFit/>
          </a:bodyPr>
          <a:lstStyle/>
          <a:p>
            <a:pPr algn="l">
              <a:defRPr sz="1100" b="1">
                <a:solidFill>
                  <a:srgbClr val="FFFFFF"/>
                </a:solidFill>
                <a:latin typeface="Helvetica"/>
              </a:defRPr>
            </a:pPr>
            <a:r>
              <a:t>MCU (nRF52832)</a:t>
            </a:r>
          </a:p>
        </p:txBody>
      </p:sp>
      <p:sp>
        <p:nvSpPr>
          <p:cNvPr id="17" name="TextBox 16"/>
          <p:cNvSpPr txBox="1"/>
          <p:nvPr/>
        </p:nvSpPr>
        <p:spPr>
          <a:xfrm>
            <a:off x="548640" y="3730752"/>
            <a:ext cx="6126480" cy="182880"/>
          </a:xfrm>
          <a:prstGeom prst="rect">
            <a:avLst/>
          </a:prstGeom>
          <a:noFill/>
        </p:spPr>
        <p:txBody>
          <a:bodyPr wrap="square">
            <a:spAutoFit/>
          </a:bodyPr>
          <a:lstStyle/>
          <a:p>
            <a:pPr algn="l">
              <a:defRPr sz="800" b="0">
                <a:solidFill>
                  <a:srgbClr val="BBBBCC"/>
                </a:solidFill>
                <a:latin typeface="Helvetica"/>
              </a:defRPr>
            </a:pPr>
            <a:r>
              <a:t>Timing engine, BLE 5.0, gesture detection, haptic control</a:t>
            </a:r>
          </a:p>
        </p:txBody>
      </p:sp>
      <p:sp>
        <p:nvSpPr>
          <p:cNvPr id="18" name="Rounded Rectangle 17"/>
          <p:cNvSpPr/>
          <p:nvPr/>
        </p:nvSpPr>
        <p:spPr>
          <a:xfrm>
            <a:off x="365760" y="4069080"/>
            <a:ext cx="6126480" cy="50292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4069080"/>
            <a:ext cx="54864" cy="50292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096512"/>
            <a:ext cx="6126480" cy="182880"/>
          </a:xfrm>
          <a:prstGeom prst="rect">
            <a:avLst/>
          </a:prstGeom>
          <a:noFill/>
        </p:spPr>
        <p:txBody>
          <a:bodyPr wrap="square">
            <a:spAutoFit/>
          </a:bodyPr>
          <a:lstStyle/>
          <a:p>
            <a:pPr algn="l">
              <a:defRPr sz="1100" b="1">
                <a:solidFill>
                  <a:srgbClr val="FFFFFF"/>
                </a:solidFill>
                <a:latin typeface="Helvetica"/>
              </a:defRPr>
            </a:pPr>
            <a:r>
              <a:t>Haptic (DRV2605L + LRA)</a:t>
            </a:r>
          </a:p>
        </p:txBody>
      </p:sp>
      <p:sp>
        <p:nvSpPr>
          <p:cNvPr id="21" name="TextBox 20"/>
          <p:cNvSpPr txBox="1"/>
          <p:nvPr/>
        </p:nvSpPr>
        <p:spPr>
          <a:xfrm>
            <a:off x="548640" y="4325112"/>
            <a:ext cx="6126480" cy="182880"/>
          </a:xfrm>
          <a:prstGeom prst="rect">
            <a:avLst/>
          </a:prstGeom>
          <a:noFill/>
        </p:spPr>
        <p:txBody>
          <a:bodyPr wrap="square">
            <a:spAutoFit/>
          </a:bodyPr>
          <a:lstStyle/>
          <a:p>
            <a:pPr algn="l">
              <a:defRPr sz="800" b="0">
                <a:solidFill>
                  <a:srgbClr val="BBBBCC"/>
                </a:solidFill>
                <a:latin typeface="Helvetica"/>
              </a:defRPr>
            </a:pPr>
            <a:r>
              <a:t>Crisp vibrotactile pulses, auto-resonance tracking</a:t>
            </a:r>
          </a:p>
        </p:txBody>
      </p:sp>
      <p:sp>
        <p:nvSpPr>
          <p:cNvPr id="22" name="Rounded Rectangle 21"/>
          <p:cNvSpPr/>
          <p:nvPr/>
        </p:nvSpPr>
        <p:spPr>
          <a:xfrm>
            <a:off x="365760" y="4663440"/>
            <a:ext cx="6126480" cy="50292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4663440"/>
            <a:ext cx="54864" cy="502920"/>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690872"/>
            <a:ext cx="6126480" cy="182880"/>
          </a:xfrm>
          <a:prstGeom prst="rect">
            <a:avLst/>
          </a:prstGeom>
          <a:noFill/>
        </p:spPr>
        <p:txBody>
          <a:bodyPr wrap="square">
            <a:spAutoFit/>
          </a:bodyPr>
          <a:lstStyle/>
          <a:p>
            <a:pPr algn="l">
              <a:defRPr sz="1100" b="1">
                <a:solidFill>
                  <a:srgbClr val="FFFFFF"/>
                </a:solidFill>
                <a:latin typeface="Helvetica"/>
              </a:defRPr>
            </a:pPr>
            <a:r>
              <a:t>Accelerometer (LIS2DH12)</a:t>
            </a:r>
          </a:p>
        </p:txBody>
      </p:sp>
      <p:sp>
        <p:nvSpPr>
          <p:cNvPr id="25" name="TextBox 24"/>
          <p:cNvSpPr txBox="1"/>
          <p:nvPr/>
        </p:nvSpPr>
        <p:spPr>
          <a:xfrm>
            <a:off x="548640" y="4919472"/>
            <a:ext cx="6126480" cy="182880"/>
          </a:xfrm>
          <a:prstGeom prst="rect">
            <a:avLst/>
          </a:prstGeom>
          <a:noFill/>
        </p:spPr>
        <p:txBody>
          <a:bodyPr wrap="square">
            <a:spAutoFit/>
          </a:bodyPr>
          <a:lstStyle/>
          <a:p>
            <a:pPr algn="l">
              <a:defRPr sz="800" b="0">
                <a:solidFill>
                  <a:srgbClr val="BBBBCC"/>
                </a:solidFill>
                <a:latin typeface="Helvetica"/>
              </a:defRPr>
            </a:pPr>
            <a:r>
              <a:t>Hardware tap/double-tap detection, Z-axis validation</a:t>
            </a:r>
          </a:p>
        </p:txBody>
      </p:sp>
      <p:sp>
        <p:nvSpPr>
          <p:cNvPr id="26" name="Rounded Rectangle 25"/>
          <p:cNvSpPr/>
          <p:nvPr/>
        </p:nvSpPr>
        <p:spPr>
          <a:xfrm>
            <a:off x="365760" y="5257800"/>
            <a:ext cx="6126480" cy="50292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5257800"/>
            <a:ext cx="54864" cy="502920"/>
          </a:xfrm>
          <a:prstGeom prst="rect">
            <a:avLst/>
          </a:prstGeom>
          <a:solidFill>
            <a:srgbClr val="009B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5285232"/>
            <a:ext cx="6126480" cy="182880"/>
          </a:xfrm>
          <a:prstGeom prst="rect">
            <a:avLst/>
          </a:prstGeom>
          <a:noFill/>
        </p:spPr>
        <p:txBody>
          <a:bodyPr wrap="square">
            <a:spAutoFit/>
          </a:bodyPr>
          <a:lstStyle/>
          <a:p>
            <a:pPr algn="l">
              <a:defRPr sz="1100" b="1">
                <a:solidFill>
                  <a:srgbClr val="FFFFFF"/>
                </a:solidFill>
                <a:latin typeface="Helvetica"/>
              </a:defRPr>
            </a:pPr>
            <a:r>
              <a:t>BLE 5.0 (GATT)</a:t>
            </a:r>
          </a:p>
        </p:txBody>
      </p:sp>
      <p:sp>
        <p:nvSpPr>
          <p:cNvPr id="29" name="TextBox 28"/>
          <p:cNvSpPr txBox="1"/>
          <p:nvPr/>
        </p:nvSpPr>
        <p:spPr>
          <a:xfrm>
            <a:off x="548640" y="5513832"/>
            <a:ext cx="6126480" cy="182880"/>
          </a:xfrm>
          <a:prstGeom prst="rect">
            <a:avLst/>
          </a:prstGeom>
          <a:noFill/>
        </p:spPr>
        <p:txBody>
          <a:bodyPr wrap="square">
            <a:spAutoFit/>
          </a:bodyPr>
          <a:lstStyle/>
          <a:p>
            <a:pPr algn="l">
              <a:defRPr sz="800" b="0">
                <a:solidFill>
                  <a:srgbClr val="BBBBCC"/>
                </a:solidFill>
                <a:latin typeface="Helvetica"/>
              </a:defRPr>
            </a:pPr>
            <a:r>
              <a:t>App config, presets, battery status, OTA updates</a:t>
            </a:r>
          </a:p>
        </p:txBody>
      </p:sp>
      <p:sp>
        <p:nvSpPr>
          <p:cNvPr id="30" name="Rounded Rectangle 29"/>
          <p:cNvSpPr/>
          <p:nvPr/>
        </p:nvSpPr>
        <p:spPr>
          <a:xfrm>
            <a:off x="365760" y="5852160"/>
            <a:ext cx="6126480" cy="50292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65760" y="5852160"/>
            <a:ext cx="54864" cy="5029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879592"/>
            <a:ext cx="6126480" cy="182880"/>
          </a:xfrm>
          <a:prstGeom prst="rect">
            <a:avLst/>
          </a:prstGeom>
          <a:noFill/>
        </p:spPr>
        <p:txBody>
          <a:bodyPr wrap="square">
            <a:spAutoFit/>
          </a:bodyPr>
          <a:lstStyle/>
          <a:p>
            <a:pPr algn="l">
              <a:defRPr sz="1100" b="1">
                <a:solidFill>
                  <a:srgbClr val="FFFFFF"/>
                </a:solidFill>
                <a:latin typeface="Helvetica"/>
              </a:defRPr>
            </a:pPr>
            <a:r>
              <a:t>Power (150mAh LiPo)</a:t>
            </a:r>
          </a:p>
        </p:txBody>
      </p:sp>
      <p:sp>
        <p:nvSpPr>
          <p:cNvPr id="33" name="TextBox 32"/>
          <p:cNvSpPr txBox="1"/>
          <p:nvPr/>
        </p:nvSpPr>
        <p:spPr>
          <a:xfrm>
            <a:off x="548640" y="6108192"/>
            <a:ext cx="6126480" cy="182880"/>
          </a:xfrm>
          <a:prstGeom prst="rect">
            <a:avLst/>
          </a:prstGeom>
          <a:noFill/>
        </p:spPr>
        <p:txBody>
          <a:bodyPr wrap="square">
            <a:spAutoFit/>
          </a:bodyPr>
          <a:lstStyle/>
          <a:p>
            <a:pPr algn="l">
              <a:defRPr sz="800" b="0">
                <a:solidFill>
                  <a:srgbClr val="BBBBCC"/>
                </a:solidFill>
                <a:latin typeface="Helvetica"/>
              </a:defRPr>
            </a:pPr>
            <a:r>
              <a:t>USB-C charging, 30+ hrs continuous play</a:t>
            </a:r>
          </a:p>
        </p:txBody>
      </p:sp>
      <p:sp>
        <p:nvSpPr>
          <p:cNvPr id="34" name="Rounded Rectangle 33"/>
          <p:cNvSpPr/>
          <p:nvPr/>
        </p:nvSpPr>
        <p:spPr>
          <a:xfrm>
            <a:off x="365760" y="6446520"/>
            <a:ext cx="6126480" cy="50292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65760" y="6446520"/>
            <a:ext cx="54864" cy="5029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 y="6473952"/>
            <a:ext cx="6126480" cy="182880"/>
          </a:xfrm>
          <a:prstGeom prst="rect">
            <a:avLst/>
          </a:prstGeom>
          <a:noFill/>
        </p:spPr>
        <p:txBody>
          <a:bodyPr wrap="square">
            <a:spAutoFit/>
          </a:bodyPr>
          <a:lstStyle/>
          <a:p>
            <a:pPr algn="l">
              <a:defRPr sz="1100" b="1">
                <a:solidFill>
                  <a:srgbClr val="FFFFFF"/>
                </a:solidFill>
                <a:latin typeface="Helvetica"/>
              </a:defRPr>
            </a:pPr>
            <a:r>
              <a:t>LED (1x green)</a:t>
            </a:r>
          </a:p>
        </p:txBody>
      </p:sp>
      <p:sp>
        <p:nvSpPr>
          <p:cNvPr id="37" name="TextBox 36"/>
          <p:cNvSpPr txBox="1"/>
          <p:nvPr/>
        </p:nvSpPr>
        <p:spPr>
          <a:xfrm>
            <a:off x="548640" y="6702552"/>
            <a:ext cx="6126480" cy="182880"/>
          </a:xfrm>
          <a:prstGeom prst="rect">
            <a:avLst/>
          </a:prstGeom>
          <a:noFill/>
        </p:spPr>
        <p:txBody>
          <a:bodyPr wrap="square">
            <a:spAutoFit/>
          </a:bodyPr>
          <a:lstStyle/>
          <a:p>
            <a:pPr algn="l">
              <a:defRPr sz="800" b="0">
                <a:solidFill>
                  <a:srgbClr val="BBBBCC"/>
                </a:solidFill>
                <a:latin typeface="Helvetica"/>
              </a:defRPr>
            </a:pPr>
            <a:r>
              <a:t>Sanity check: first 4 bars only, then dark</a:t>
            </a:r>
          </a:p>
        </p:txBody>
      </p:sp>
      <p:sp>
        <p:nvSpPr>
          <p:cNvPr id="38" name="Rounded Rectangle 37"/>
          <p:cNvSpPr/>
          <p:nvPr/>
        </p:nvSpPr>
        <p:spPr>
          <a:xfrm>
            <a:off x="365760" y="7086600"/>
            <a:ext cx="6126480" cy="100584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7132320"/>
            <a:ext cx="6126480" cy="228600"/>
          </a:xfrm>
          <a:prstGeom prst="rect">
            <a:avLst/>
          </a:prstGeom>
          <a:noFill/>
        </p:spPr>
        <p:txBody>
          <a:bodyPr wrap="square">
            <a:spAutoFit/>
          </a:bodyPr>
          <a:lstStyle/>
          <a:p>
            <a:pPr algn="l">
              <a:defRPr sz="1300" b="1">
                <a:solidFill>
                  <a:srgbClr val="A855F7"/>
                </a:solidFill>
                <a:latin typeface="Helvetica"/>
              </a:defRPr>
            </a:pPr>
            <a:r>
              <a:t>Thin actuator, thick app</a:t>
            </a:r>
          </a:p>
        </p:txBody>
      </p:sp>
      <p:sp>
        <p:nvSpPr>
          <p:cNvPr id="40" name="TextBox 39"/>
          <p:cNvSpPr txBox="1"/>
          <p:nvPr/>
        </p:nvSpPr>
        <p:spPr>
          <a:xfrm>
            <a:off x="502920" y="7452360"/>
            <a:ext cx="5852160" cy="548640"/>
          </a:xfrm>
          <a:prstGeom prst="rect">
            <a:avLst/>
          </a:prstGeom>
          <a:noFill/>
        </p:spPr>
        <p:txBody>
          <a:bodyPr wrap="square">
            <a:spAutoFit/>
          </a:bodyPr>
          <a:lstStyle/>
          <a:p>
            <a:pPr algn="l">
              <a:defRPr sz="900" b="0">
                <a:solidFill>
                  <a:srgbClr val="BBBBCC"/>
                </a:solidFill>
                <a:latin typeface="Helvetica"/>
              </a:defRPr>
            </a:pPr>
            <a:r>
              <a:t>The bracelet handles timing and haptics. The app handles everything else: BPM, meter, accent patterns, presets, setlists, practice logs. No physical controls for config -- tap/double-tap for start/stop only.</a:t>
            </a:r>
          </a:p>
        </p:txBody>
      </p:sp>
      <p:sp>
        <p:nvSpPr>
          <p:cNvPr id="41" name="TextBox 40"/>
          <p:cNvSpPr txBox="1"/>
          <p:nvPr/>
        </p:nvSpPr>
        <p:spPr>
          <a:xfrm>
            <a:off x="6126480" y="8298180"/>
            <a:ext cx="548640" cy="228600"/>
          </a:xfrm>
          <a:prstGeom prst="rect">
            <a:avLst/>
          </a:prstGeom>
          <a:noFill/>
        </p:spPr>
        <p:txBody>
          <a:bodyPr wrap="square">
            <a:spAutoFit/>
          </a:bodyPr>
          <a:lstStyle/>
          <a:p>
            <a:pPr algn="r">
              <a:defRPr sz="800" b="0">
                <a:solidFill>
                  <a:srgbClr val="BBBBCC"/>
                </a:solidFill>
                <a:latin typeface="Helvetica"/>
              </a:defRPr>
            </a:pPr>
            <a:r>
              <a:t>4/8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858000" cy="7315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6126480" cy="457200"/>
          </a:xfrm>
          <a:prstGeom prst="rect">
            <a:avLst/>
          </a:prstGeom>
          <a:noFill/>
        </p:spPr>
        <p:txBody>
          <a:bodyPr wrap="square">
            <a:spAutoFit/>
          </a:bodyPr>
          <a:lstStyle/>
          <a:p>
            <a:pPr algn="l">
              <a:defRPr sz="2800" b="1">
                <a:solidFill>
                  <a:srgbClr val="FFFFFF"/>
                </a:solidFill>
                <a:latin typeface="Helvetica"/>
              </a:defRPr>
            </a:pPr>
            <a:r>
              <a:t>Feeling the Downbeat</a:t>
            </a:r>
          </a:p>
        </p:txBody>
      </p:sp>
      <p:sp>
        <p:nvSpPr>
          <p:cNvPr id="4" name="Rectangle 3"/>
          <p:cNvSpPr/>
          <p:nvPr/>
        </p:nvSpPr>
        <p:spPr>
          <a:xfrm>
            <a:off x="365760" y="777240"/>
            <a:ext cx="1097280" cy="27432"/>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960120"/>
            <a:ext cx="6126480" cy="365760"/>
          </a:xfrm>
          <a:prstGeom prst="rect">
            <a:avLst/>
          </a:prstGeom>
          <a:noFill/>
        </p:spPr>
        <p:txBody>
          <a:bodyPr wrap="square">
            <a:spAutoFit/>
          </a:bodyPr>
          <a:lstStyle/>
          <a:p>
            <a:pPr algn="l">
              <a:defRPr sz="1300" b="0">
                <a:solidFill>
                  <a:srgbClr val="BBBBCC"/>
                </a:solidFill>
                <a:latin typeface="Helvetica"/>
              </a:defRPr>
            </a:pPr>
            <a:r>
              <a:t>How do you know where beat 1 is when you can only feel vibration?</a:t>
            </a:r>
          </a:p>
        </p:txBody>
      </p:sp>
      <p:sp>
        <p:nvSpPr>
          <p:cNvPr id="6" name="Rounded Rectangle 5"/>
          <p:cNvSpPr/>
          <p:nvPr/>
        </p:nvSpPr>
        <p:spPr>
          <a:xfrm>
            <a:off x="365760" y="1463040"/>
            <a:ext cx="6126480" cy="164592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463040"/>
            <a:ext cx="6126480" cy="54864"/>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600200"/>
            <a:ext cx="6126480" cy="274320"/>
          </a:xfrm>
          <a:prstGeom prst="rect">
            <a:avLst/>
          </a:prstGeom>
          <a:noFill/>
        </p:spPr>
        <p:txBody>
          <a:bodyPr wrap="square">
            <a:spAutoFit/>
          </a:bodyPr>
          <a:lstStyle/>
          <a:p>
            <a:pPr algn="l">
              <a:defRPr sz="1600" b="1">
                <a:solidFill>
                  <a:srgbClr val="4EC978"/>
                </a:solidFill>
                <a:latin typeface="Helvetica"/>
              </a:defRPr>
            </a:pPr>
            <a:r>
              <a:t>Normal Beat (2, 3, 4...)</a:t>
            </a:r>
          </a:p>
        </p:txBody>
      </p:sp>
      <p:sp>
        <p:nvSpPr>
          <p:cNvPr id="9" name="TextBox 8"/>
          <p:cNvSpPr txBox="1"/>
          <p:nvPr/>
        </p:nvSpPr>
        <p:spPr>
          <a:xfrm>
            <a:off x="548640" y="2011680"/>
            <a:ext cx="6126480" cy="228600"/>
          </a:xfrm>
          <a:prstGeom prst="rect">
            <a:avLst/>
          </a:prstGeom>
          <a:noFill/>
        </p:spPr>
        <p:txBody>
          <a:bodyPr wrap="square">
            <a:spAutoFit/>
          </a:bodyPr>
          <a:lstStyle/>
          <a:p>
            <a:pPr algn="l">
              <a:defRPr sz="1300" b="0">
                <a:solidFill>
                  <a:srgbClr val="FFFFFF"/>
                </a:solidFill>
                <a:latin typeface="Helvetica"/>
              </a:defRPr>
            </a:pPr>
            <a:r>
              <a:t>Single pulse: one crisp tap</a:t>
            </a:r>
          </a:p>
        </p:txBody>
      </p:sp>
      <p:sp>
        <p:nvSpPr>
          <p:cNvPr id="10" name="TextBox 9"/>
          <p:cNvSpPr txBox="1"/>
          <p:nvPr/>
        </p:nvSpPr>
        <p:spPr>
          <a:xfrm>
            <a:off x="548640" y="2377440"/>
            <a:ext cx="6126480" cy="182880"/>
          </a:xfrm>
          <a:prstGeom prst="rect">
            <a:avLst/>
          </a:prstGeom>
          <a:noFill/>
        </p:spPr>
        <p:txBody>
          <a:bodyPr wrap="square">
            <a:spAutoFit/>
          </a:bodyPr>
          <a:lstStyle/>
          <a:p>
            <a:pPr algn="l">
              <a:defRPr sz="1100" b="0">
                <a:solidFill>
                  <a:srgbClr val="BBBBCC"/>
                </a:solidFill>
                <a:latin typeface="Helvetica"/>
              </a:defRPr>
            </a:pPr>
            <a:r>
              <a:t>|--15ms--|</a:t>
            </a:r>
          </a:p>
        </p:txBody>
      </p:sp>
      <p:sp>
        <p:nvSpPr>
          <p:cNvPr id="11" name="Rectangle 10"/>
          <p:cNvSpPr/>
          <p:nvPr/>
        </p:nvSpPr>
        <p:spPr>
          <a:xfrm>
            <a:off x="548640" y="2697480"/>
            <a:ext cx="548640" cy="109728"/>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65760" y="3291840"/>
            <a:ext cx="6126480" cy="196596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3291840"/>
            <a:ext cx="6126480" cy="5486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429000"/>
            <a:ext cx="6126480" cy="274320"/>
          </a:xfrm>
          <a:prstGeom prst="rect">
            <a:avLst/>
          </a:prstGeom>
          <a:noFill/>
        </p:spPr>
        <p:txBody>
          <a:bodyPr wrap="square">
            <a:spAutoFit/>
          </a:bodyPr>
          <a:lstStyle/>
          <a:p>
            <a:pPr algn="l">
              <a:defRPr sz="1600" b="1">
                <a:solidFill>
                  <a:srgbClr val="A855F7"/>
                </a:solidFill>
                <a:latin typeface="Helvetica"/>
              </a:defRPr>
            </a:pPr>
            <a:r>
              <a:t>Downbeat (Beat 1)</a:t>
            </a:r>
          </a:p>
        </p:txBody>
      </p:sp>
      <p:sp>
        <p:nvSpPr>
          <p:cNvPr id="15" name="TextBox 14"/>
          <p:cNvSpPr txBox="1"/>
          <p:nvPr/>
        </p:nvSpPr>
        <p:spPr>
          <a:xfrm>
            <a:off x="548640" y="3840480"/>
            <a:ext cx="6126480" cy="228600"/>
          </a:xfrm>
          <a:prstGeom prst="rect">
            <a:avLst/>
          </a:prstGeom>
          <a:noFill/>
        </p:spPr>
        <p:txBody>
          <a:bodyPr wrap="square">
            <a:spAutoFit/>
          </a:bodyPr>
          <a:lstStyle/>
          <a:p>
            <a:pPr algn="l">
              <a:defRPr sz="1300" b="0">
                <a:solidFill>
                  <a:srgbClr val="FFFFFF"/>
                </a:solidFill>
                <a:latin typeface="Helvetica"/>
              </a:defRPr>
            </a:pPr>
            <a:r>
              <a:t>Dual-pulse: "da-dum"</a:t>
            </a:r>
          </a:p>
        </p:txBody>
      </p:sp>
      <p:sp>
        <p:nvSpPr>
          <p:cNvPr id="16" name="TextBox 15"/>
          <p:cNvSpPr txBox="1"/>
          <p:nvPr/>
        </p:nvSpPr>
        <p:spPr>
          <a:xfrm>
            <a:off x="548640" y="4160520"/>
            <a:ext cx="6126480" cy="228600"/>
          </a:xfrm>
          <a:prstGeom prst="rect">
            <a:avLst/>
          </a:prstGeom>
          <a:noFill/>
        </p:spPr>
        <p:txBody>
          <a:bodyPr wrap="square">
            <a:spAutoFit/>
          </a:bodyPr>
          <a:lstStyle/>
          <a:p>
            <a:pPr algn="l">
              <a:defRPr sz="1300" b="0">
                <a:solidFill>
                  <a:srgbClr val="FFFFFF"/>
                </a:solidFill>
                <a:latin typeface="Helvetica"/>
              </a:defRPr>
            </a:pPr>
            <a:r>
              <a:t>Two taps, 40 ms apart</a:t>
            </a:r>
          </a:p>
        </p:txBody>
      </p:sp>
      <p:sp>
        <p:nvSpPr>
          <p:cNvPr id="17" name="TextBox 16"/>
          <p:cNvSpPr txBox="1"/>
          <p:nvPr/>
        </p:nvSpPr>
        <p:spPr>
          <a:xfrm>
            <a:off x="548640" y="4526280"/>
            <a:ext cx="6126480" cy="182880"/>
          </a:xfrm>
          <a:prstGeom prst="rect">
            <a:avLst/>
          </a:prstGeom>
          <a:noFill/>
        </p:spPr>
        <p:txBody>
          <a:bodyPr wrap="square">
            <a:spAutoFit/>
          </a:bodyPr>
          <a:lstStyle/>
          <a:p>
            <a:pPr algn="l">
              <a:defRPr sz="1100" b="0">
                <a:solidFill>
                  <a:srgbClr val="BBBBCC"/>
                </a:solidFill>
                <a:latin typeface="Helvetica"/>
              </a:defRPr>
            </a:pPr>
            <a:r>
              <a:t>|--15ms--|----40ms----|--15ms--|</a:t>
            </a:r>
          </a:p>
        </p:txBody>
      </p:sp>
      <p:sp>
        <p:nvSpPr>
          <p:cNvPr id="18" name="Rectangle 17"/>
          <p:cNvSpPr/>
          <p:nvPr/>
        </p:nvSpPr>
        <p:spPr>
          <a:xfrm>
            <a:off x="548640" y="4846320"/>
            <a:ext cx="548640" cy="10972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14600" y="4846320"/>
            <a:ext cx="548640" cy="109728"/>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365760" y="5577840"/>
            <a:ext cx="6126480" cy="251460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669280"/>
            <a:ext cx="6126480" cy="228600"/>
          </a:xfrm>
          <a:prstGeom prst="rect">
            <a:avLst/>
          </a:prstGeom>
          <a:noFill/>
        </p:spPr>
        <p:txBody>
          <a:bodyPr wrap="square">
            <a:spAutoFit/>
          </a:bodyPr>
          <a:lstStyle/>
          <a:p>
            <a:pPr algn="l">
              <a:defRPr sz="1300" b="1">
                <a:solidFill>
                  <a:srgbClr val="FF8C00"/>
                </a:solidFill>
                <a:latin typeface="Helvetica"/>
              </a:defRPr>
            </a:pPr>
            <a:r>
              <a:t>Why pattern, not intensity?</a:t>
            </a:r>
          </a:p>
        </p:txBody>
      </p:sp>
      <p:sp>
        <p:nvSpPr>
          <p:cNvPr id="22" name="TextBox 21"/>
          <p:cNvSpPr txBox="1"/>
          <p:nvPr/>
        </p:nvSpPr>
        <p:spPr>
          <a:xfrm>
            <a:off x="548640" y="6035040"/>
            <a:ext cx="5760720" cy="1828800"/>
          </a:xfrm>
          <a:prstGeom prst="rect">
            <a:avLst/>
          </a:prstGeom>
          <a:noFill/>
        </p:spPr>
        <p:txBody>
          <a:bodyPr wrap="square">
            <a:spAutoFit/>
          </a:bodyPr>
          <a:lstStyle/>
          <a:p>
            <a:pPr algn="l">
              <a:defRPr sz="900" b="0">
                <a:solidFill>
                  <a:srgbClr val="BBBBCC"/>
                </a:solidFill>
                <a:latin typeface="Helvetica"/>
              </a:defRPr>
            </a:pPr>
            <a:r>
              <a:t>Amplitude is ambiguous: "Slightly stronger" vs. "normal" is hard to distinguish when your arm is moving.</a:t>
            </a:r>
          </a:p>
          <a:p>
            <a:pPr algn="l">
              <a:spcBef>
                <a:spcPts val="600"/>
              </a:spcBef>
              <a:defRPr sz="900" b="0">
                <a:solidFill>
                  <a:srgbClr val="BBBBCC"/>
                </a:solidFill>
                <a:latin typeface="Helvetica"/>
              </a:defRPr>
            </a:pPr>
            <a:r>
              <a:t>Pattern is distinct: The brain detects a double-tap as a different event, not just a louder version of the same event.</a:t>
            </a:r>
          </a:p>
          <a:p>
            <a:pPr algn="l">
              <a:spcBef>
                <a:spcPts val="600"/>
              </a:spcBef>
              <a:defRPr sz="900" b="0">
                <a:solidFill>
                  <a:srgbClr val="BBBBCC"/>
                </a:solidFill>
                <a:latin typeface="Helvetica"/>
              </a:defRPr>
            </a:pPr>
            <a:r>
              <a:t>Works at tempo: At 200 BPM (300 ms between beats), the 70 ms dual-pulse uses 23% of the interval -- tight but clear.</a:t>
            </a:r>
          </a:p>
        </p:txBody>
      </p:sp>
      <p:sp>
        <p:nvSpPr>
          <p:cNvPr id="23" name="TextBox 22"/>
          <p:cNvSpPr txBox="1"/>
          <p:nvPr/>
        </p:nvSpPr>
        <p:spPr>
          <a:xfrm>
            <a:off x="6126480" y="8298180"/>
            <a:ext cx="548640" cy="228600"/>
          </a:xfrm>
          <a:prstGeom prst="rect">
            <a:avLst/>
          </a:prstGeom>
          <a:noFill/>
        </p:spPr>
        <p:txBody>
          <a:bodyPr wrap="square">
            <a:spAutoFit/>
          </a:bodyPr>
          <a:lstStyle/>
          <a:p>
            <a:pPr algn="r">
              <a:defRPr sz="800" b="0">
                <a:solidFill>
                  <a:srgbClr val="BBBBCC"/>
                </a:solidFill>
                <a:latin typeface="Helvetica"/>
              </a:defRPr>
            </a:pPr>
            <a:r>
              <a:t>5/8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858000" cy="7315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6126480" cy="457200"/>
          </a:xfrm>
          <a:prstGeom prst="rect">
            <a:avLst/>
          </a:prstGeom>
          <a:noFill/>
        </p:spPr>
        <p:txBody>
          <a:bodyPr wrap="square">
            <a:spAutoFit/>
          </a:bodyPr>
          <a:lstStyle/>
          <a:p>
            <a:pPr algn="l">
              <a:defRPr sz="2800" b="1">
                <a:solidFill>
                  <a:srgbClr val="FFFFFF"/>
                </a:solidFill>
                <a:latin typeface="Helvetica"/>
              </a:defRPr>
            </a:pPr>
            <a:r>
              <a:t>Constraints &amp; BOM</a:t>
            </a:r>
          </a:p>
        </p:txBody>
      </p:sp>
      <p:sp>
        <p:nvSpPr>
          <p:cNvPr id="4" name="Rectangle 3"/>
          <p:cNvSpPr/>
          <p:nvPr/>
        </p:nvSpPr>
        <p:spPr>
          <a:xfrm>
            <a:off x="365760" y="777240"/>
            <a:ext cx="1097280" cy="2743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05840"/>
            <a:ext cx="6126480" cy="50292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51560"/>
            <a:ext cx="2743200" cy="182880"/>
          </a:xfrm>
          <a:prstGeom prst="rect">
            <a:avLst/>
          </a:prstGeom>
          <a:noFill/>
        </p:spPr>
        <p:txBody>
          <a:bodyPr wrap="square">
            <a:spAutoFit/>
          </a:bodyPr>
          <a:lstStyle/>
          <a:p>
            <a:pPr algn="l">
              <a:defRPr sz="1100" b="1">
                <a:solidFill>
                  <a:srgbClr val="FF8C00"/>
                </a:solidFill>
                <a:latin typeface="Helvetica"/>
              </a:defRPr>
            </a:pPr>
            <a:r>
              <a:t>Timing jitter</a:t>
            </a:r>
          </a:p>
        </p:txBody>
      </p:sp>
      <p:sp>
        <p:nvSpPr>
          <p:cNvPr id="7" name="TextBox 6"/>
          <p:cNvSpPr txBox="1"/>
          <p:nvPr/>
        </p:nvSpPr>
        <p:spPr>
          <a:xfrm>
            <a:off x="502920" y="1280160"/>
            <a:ext cx="4572000" cy="182880"/>
          </a:xfrm>
          <a:prstGeom prst="rect">
            <a:avLst/>
          </a:prstGeom>
          <a:noFill/>
        </p:spPr>
        <p:txBody>
          <a:bodyPr wrap="square">
            <a:spAutoFit/>
          </a:bodyPr>
          <a:lstStyle/>
          <a:p>
            <a:pPr algn="l">
              <a:defRPr sz="800" b="0">
                <a:solidFill>
                  <a:srgbClr val="BBBBCC"/>
                </a:solidFill>
                <a:latin typeface="Helvetica"/>
              </a:defRPr>
            </a:pPr>
            <a:r>
              <a:t>Hardware timer ISR, not software loop</a:t>
            </a:r>
          </a:p>
        </p:txBody>
      </p:sp>
      <p:sp>
        <p:nvSpPr>
          <p:cNvPr id="8" name="TextBox 7"/>
          <p:cNvSpPr txBox="1"/>
          <p:nvPr/>
        </p:nvSpPr>
        <p:spPr>
          <a:xfrm>
            <a:off x="502920" y="1051560"/>
            <a:ext cx="5852160" cy="182880"/>
          </a:xfrm>
          <a:prstGeom prst="rect">
            <a:avLst/>
          </a:prstGeom>
          <a:noFill/>
        </p:spPr>
        <p:txBody>
          <a:bodyPr wrap="square">
            <a:spAutoFit/>
          </a:bodyPr>
          <a:lstStyle/>
          <a:p>
            <a:pPr algn="r">
              <a:defRPr sz="1100" b="1">
                <a:solidFill>
                  <a:srgbClr val="FFFFFF"/>
                </a:solidFill>
                <a:latin typeface="Helvetica"/>
              </a:defRPr>
            </a:pPr>
            <a:r>
              <a:t>&lt; 100 us</a:t>
            </a:r>
          </a:p>
        </p:txBody>
      </p:sp>
      <p:sp>
        <p:nvSpPr>
          <p:cNvPr id="9" name="Rounded Rectangle 8"/>
          <p:cNvSpPr/>
          <p:nvPr/>
        </p:nvSpPr>
        <p:spPr>
          <a:xfrm>
            <a:off x="365760" y="1600200"/>
            <a:ext cx="6126480" cy="50292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1645920"/>
            <a:ext cx="2743200" cy="182880"/>
          </a:xfrm>
          <a:prstGeom prst="rect">
            <a:avLst/>
          </a:prstGeom>
          <a:noFill/>
        </p:spPr>
        <p:txBody>
          <a:bodyPr wrap="square">
            <a:spAutoFit/>
          </a:bodyPr>
          <a:lstStyle/>
          <a:p>
            <a:pPr algn="l">
              <a:defRPr sz="1100" b="1">
                <a:solidFill>
                  <a:srgbClr val="FF8C00"/>
                </a:solidFill>
                <a:latin typeface="Helvetica"/>
              </a:defRPr>
            </a:pPr>
            <a:r>
              <a:t>Haptic rise time</a:t>
            </a:r>
          </a:p>
        </p:txBody>
      </p:sp>
      <p:sp>
        <p:nvSpPr>
          <p:cNvPr id="11" name="TextBox 10"/>
          <p:cNvSpPr txBox="1"/>
          <p:nvPr/>
        </p:nvSpPr>
        <p:spPr>
          <a:xfrm>
            <a:off x="502920" y="1874520"/>
            <a:ext cx="4572000" cy="182880"/>
          </a:xfrm>
          <a:prstGeom prst="rect">
            <a:avLst/>
          </a:prstGeom>
          <a:noFill/>
        </p:spPr>
        <p:txBody>
          <a:bodyPr wrap="square">
            <a:spAutoFit/>
          </a:bodyPr>
          <a:lstStyle/>
          <a:p>
            <a:pPr algn="l">
              <a:defRPr sz="800" b="0">
                <a:solidFill>
                  <a:srgbClr val="BBBBCC"/>
                </a:solidFill>
                <a:latin typeface="Helvetica"/>
              </a:defRPr>
            </a:pPr>
            <a:r>
              <a:t>LRA mandatory; ERM too slow above 160 BPM</a:t>
            </a:r>
          </a:p>
        </p:txBody>
      </p:sp>
      <p:sp>
        <p:nvSpPr>
          <p:cNvPr id="12" name="TextBox 11"/>
          <p:cNvSpPr txBox="1"/>
          <p:nvPr/>
        </p:nvSpPr>
        <p:spPr>
          <a:xfrm>
            <a:off x="502920" y="1645920"/>
            <a:ext cx="5852160" cy="182880"/>
          </a:xfrm>
          <a:prstGeom prst="rect">
            <a:avLst/>
          </a:prstGeom>
          <a:noFill/>
        </p:spPr>
        <p:txBody>
          <a:bodyPr wrap="square">
            <a:spAutoFit/>
          </a:bodyPr>
          <a:lstStyle/>
          <a:p>
            <a:pPr algn="r">
              <a:defRPr sz="1100" b="1">
                <a:solidFill>
                  <a:srgbClr val="FFFFFF"/>
                </a:solidFill>
                <a:latin typeface="Helvetica"/>
              </a:defRPr>
            </a:pPr>
            <a:r>
              <a:t>&lt; 10 ms</a:t>
            </a:r>
          </a:p>
        </p:txBody>
      </p:sp>
      <p:sp>
        <p:nvSpPr>
          <p:cNvPr id="13" name="Rounded Rectangle 12"/>
          <p:cNvSpPr/>
          <p:nvPr/>
        </p:nvSpPr>
        <p:spPr>
          <a:xfrm>
            <a:off x="365760" y="2194560"/>
            <a:ext cx="6126480" cy="50292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240280"/>
            <a:ext cx="2743200" cy="182880"/>
          </a:xfrm>
          <a:prstGeom prst="rect">
            <a:avLst/>
          </a:prstGeom>
          <a:noFill/>
        </p:spPr>
        <p:txBody>
          <a:bodyPr wrap="square">
            <a:spAutoFit/>
          </a:bodyPr>
          <a:lstStyle/>
          <a:p>
            <a:pPr algn="l">
              <a:defRPr sz="1100" b="1">
                <a:solidFill>
                  <a:srgbClr val="FF8C00"/>
                </a:solidFill>
                <a:latin typeface="Helvetica"/>
              </a:defRPr>
            </a:pPr>
            <a:r>
              <a:t>Battery life</a:t>
            </a:r>
          </a:p>
        </p:txBody>
      </p:sp>
      <p:sp>
        <p:nvSpPr>
          <p:cNvPr id="15" name="TextBox 14"/>
          <p:cNvSpPr txBox="1"/>
          <p:nvPr/>
        </p:nvSpPr>
        <p:spPr>
          <a:xfrm>
            <a:off x="502920" y="2468880"/>
            <a:ext cx="4572000" cy="182880"/>
          </a:xfrm>
          <a:prstGeom prst="rect">
            <a:avLst/>
          </a:prstGeom>
          <a:noFill/>
        </p:spPr>
        <p:txBody>
          <a:bodyPr wrap="square">
            <a:spAutoFit/>
          </a:bodyPr>
          <a:lstStyle/>
          <a:p>
            <a:pPr algn="l">
              <a:defRPr sz="800" b="0">
                <a:solidFill>
                  <a:srgbClr val="BBBBCC"/>
                </a:solidFill>
                <a:latin typeface="Helvetica"/>
              </a:defRPr>
            </a:pPr>
            <a:r>
              <a:t>150 mAh LiPo, ~4.9 mA avg during play</a:t>
            </a:r>
          </a:p>
        </p:txBody>
      </p:sp>
      <p:sp>
        <p:nvSpPr>
          <p:cNvPr id="16" name="TextBox 15"/>
          <p:cNvSpPr txBox="1"/>
          <p:nvPr/>
        </p:nvSpPr>
        <p:spPr>
          <a:xfrm>
            <a:off x="502920" y="2240280"/>
            <a:ext cx="5852160" cy="182880"/>
          </a:xfrm>
          <a:prstGeom prst="rect">
            <a:avLst/>
          </a:prstGeom>
          <a:noFill/>
        </p:spPr>
        <p:txBody>
          <a:bodyPr wrap="square">
            <a:spAutoFit/>
          </a:bodyPr>
          <a:lstStyle/>
          <a:p>
            <a:pPr algn="r">
              <a:defRPr sz="1100" b="1">
                <a:solidFill>
                  <a:srgbClr val="FFFFFF"/>
                </a:solidFill>
                <a:latin typeface="Helvetica"/>
              </a:defRPr>
            </a:pPr>
            <a:r>
              <a:t>&gt; 8 hrs continuous</a:t>
            </a:r>
          </a:p>
        </p:txBody>
      </p:sp>
      <p:sp>
        <p:nvSpPr>
          <p:cNvPr id="17" name="Rounded Rectangle 16"/>
          <p:cNvSpPr/>
          <p:nvPr/>
        </p:nvSpPr>
        <p:spPr>
          <a:xfrm>
            <a:off x="365760" y="2788920"/>
            <a:ext cx="6126480" cy="50292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2834640"/>
            <a:ext cx="2743200" cy="182880"/>
          </a:xfrm>
          <a:prstGeom prst="rect">
            <a:avLst/>
          </a:prstGeom>
          <a:noFill/>
        </p:spPr>
        <p:txBody>
          <a:bodyPr wrap="square">
            <a:spAutoFit/>
          </a:bodyPr>
          <a:lstStyle/>
          <a:p>
            <a:pPr algn="l">
              <a:defRPr sz="1100" b="1">
                <a:solidFill>
                  <a:srgbClr val="FF8C00"/>
                </a:solidFill>
                <a:latin typeface="Helvetica"/>
              </a:defRPr>
            </a:pPr>
            <a:r>
              <a:t>Pod size</a:t>
            </a:r>
          </a:p>
        </p:txBody>
      </p:sp>
      <p:sp>
        <p:nvSpPr>
          <p:cNvPr id="19" name="TextBox 18"/>
          <p:cNvSpPr txBox="1"/>
          <p:nvPr/>
        </p:nvSpPr>
        <p:spPr>
          <a:xfrm>
            <a:off x="502920" y="3063240"/>
            <a:ext cx="4572000" cy="182880"/>
          </a:xfrm>
          <a:prstGeom prst="rect">
            <a:avLst/>
          </a:prstGeom>
          <a:noFill/>
        </p:spPr>
        <p:txBody>
          <a:bodyPr wrap="square">
            <a:spAutoFit/>
          </a:bodyPr>
          <a:lstStyle/>
          <a:p>
            <a:pPr algn="l">
              <a:defRPr sz="800" b="0">
                <a:solidFill>
                  <a:srgbClr val="BBBBCC"/>
                </a:solidFill>
                <a:latin typeface="Helvetica"/>
              </a:defRPr>
            </a:pPr>
            <a:r>
              <a:t>Fits comfortably on wrist during playing</a:t>
            </a:r>
          </a:p>
        </p:txBody>
      </p:sp>
      <p:sp>
        <p:nvSpPr>
          <p:cNvPr id="20" name="TextBox 19"/>
          <p:cNvSpPr txBox="1"/>
          <p:nvPr/>
        </p:nvSpPr>
        <p:spPr>
          <a:xfrm>
            <a:off x="502920" y="2834640"/>
            <a:ext cx="5852160" cy="182880"/>
          </a:xfrm>
          <a:prstGeom prst="rect">
            <a:avLst/>
          </a:prstGeom>
          <a:noFill/>
        </p:spPr>
        <p:txBody>
          <a:bodyPr wrap="square">
            <a:spAutoFit/>
          </a:bodyPr>
          <a:lstStyle/>
          <a:p>
            <a:pPr algn="r">
              <a:defRPr sz="1100" b="1">
                <a:solidFill>
                  <a:srgbClr val="FFFFFF"/>
                </a:solidFill>
                <a:latin typeface="Helvetica"/>
              </a:defRPr>
            </a:pPr>
            <a:r>
              <a:t>35 x 25 x 10 mm</a:t>
            </a:r>
          </a:p>
        </p:txBody>
      </p:sp>
      <p:sp>
        <p:nvSpPr>
          <p:cNvPr id="21" name="Rounded Rectangle 20"/>
          <p:cNvSpPr/>
          <p:nvPr/>
        </p:nvSpPr>
        <p:spPr>
          <a:xfrm>
            <a:off x="365760" y="3383280"/>
            <a:ext cx="6126480" cy="50292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3429000"/>
            <a:ext cx="2743200" cy="182880"/>
          </a:xfrm>
          <a:prstGeom prst="rect">
            <a:avLst/>
          </a:prstGeom>
          <a:noFill/>
        </p:spPr>
        <p:txBody>
          <a:bodyPr wrap="square">
            <a:spAutoFit/>
          </a:bodyPr>
          <a:lstStyle/>
          <a:p>
            <a:pPr algn="l">
              <a:defRPr sz="1100" b="1">
                <a:solidFill>
                  <a:srgbClr val="FF8C00"/>
                </a:solidFill>
                <a:latin typeface="Helvetica"/>
              </a:defRPr>
            </a:pPr>
            <a:r>
              <a:t>Pod weight</a:t>
            </a:r>
          </a:p>
        </p:txBody>
      </p:sp>
      <p:sp>
        <p:nvSpPr>
          <p:cNvPr id="23" name="TextBox 22"/>
          <p:cNvSpPr txBox="1"/>
          <p:nvPr/>
        </p:nvSpPr>
        <p:spPr>
          <a:xfrm>
            <a:off x="502920" y="3657600"/>
            <a:ext cx="4572000" cy="182880"/>
          </a:xfrm>
          <a:prstGeom prst="rect">
            <a:avLst/>
          </a:prstGeom>
          <a:noFill/>
        </p:spPr>
        <p:txBody>
          <a:bodyPr wrap="square">
            <a:spAutoFit/>
          </a:bodyPr>
          <a:lstStyle/>
          <a:p>
            <a:pPr algn="l">
              <a:defRPr sz="800" b="0">
                <a:solidFill>
                  <a:srgbClr val="BBBBCC"/>
                </a:solidFill>
                <a:latin typeface="Helvetica"/>
              </a:defRPr>
            </a:pPr>
            <a:r>
              <a:t>Lighter than most watches</a:t>
            </a:r>
          </a:p>
        </p:txBody>
      </p:sp>
      <p:sp>
        <p:nvSpPr>
          <p:cNvPr id="24" name="TextBox 23"/>
          <p:cNvSpPr txBox="1"/>
          <p:nvPr/>
        </p:nvSpPr>
        <p:spPr>
          <a:xfrm>
            <a:off x="502920" y="3429000"/>
            <a:ext cx="5852160" cy="182880"/>
          </a:xfrm>
          <a:prstGeom prst="rect">
            <a:avLst/>
          </a:prstGeom>
          <a:noFill/>
        </p:spPr>
        <p:txBody>
          <a:bodyPr wrap="square">
            <a:spAutoFit/>
          </a:bodyPr>
          <a:lstStyle/>
          <a:p>
            <a:pPr algn="r">
              <a:defRPr sz="1100" b="1">
                <a:solidFill>
                  <a:srgbClr val="FFFFFF"/>
                </a:solidFill>
                <a:latin typeface="Helvetica"/>
              </a:defRPr>
            </a:pPr>
            <a:r>
              <a:t>&lt; 20g</a:t>
            </a:r>
          </a:p>
        </p:txBody>
      </p:sp>
      <p:sp>
        <p:nvSpPr>
          <p:cNvPr id="25" name="Rounded Rectangle 24"/>
          <p:cNvSpPr/>
          <p:nvPr/>
        </p:nvSpPr>
        <p:spPr>
          <a:xfrm>
            <a:off x="365760" y="3977639"/>
            <a:ext cx="6126480" cy="50292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4023359"/>
            <a:ext cx="2743200" cy="182880"/>
          </a:xfrm>
          <a:prstGeom prst="rect">
            <a:avLst/>
          </a:prstGeom>
          <a:noFill/>
        </p:spPr>
        <p:txBody>
          <a:bodyPr wrap="square">
            <a:spAutoFit/>
          </a:bodyPr>
          <a:lstStyle/>
          <a:p>
            <a:pPr algn="l">
              <a:defRPr sz="1100" b="1">
                <a:solidFill>
                  <a:srgbClr val="FF8C00"/>
                </a:solidFill>
                <a:latin typeface="Helvetica"/>
              </a:defRPr>
            </a:pPr>
            <a:r>
              <a:t>Sweat resistance</a:t>
            </a:r>
          </a:p>
        </p:txBody>
      </p:sp>
      <p:sp>
        <p:nvSpPr>
          <p:cNvPr id="27" name="TextBox 26"/>
          <p:cNvSpPr txBox="1"/>
          <p:nvPr/>
        </p:nvSpPr>
        <p:spPr>
          <a:xfrm>
            <a:off x="502920" y="4251959"/>
            <a:ext cx="4572000" cy="182880"/>
          </a:xfrm>
          <a:prstGeom prst="rect">
            <a:avLst/>
          </a:prstGeom>
          <a:noFill/>
        </p:spPr>
        <p:txBody>
          <a:bodyPr wrap="square">
            <a:spAutoFit/>
          </a:bodyPr>
          <a:lstStyle/>
          <a:p>
            <a:pPr algn="l">
              <a:defRPr sz="800" b="0">
                <a:solidFill>
                  <a:srgbClr val="BBBBCC"/>
                </a:solidFill>
                <a:latin typeface="Helvetica"/>
              </a:defRPr>
            </a:pPr>
            <a:r>
              <a:t>Silicone overmold, sealed USB-C flap</a:t>
            </a:r>
          </a:p>
        </p:txBody>
      </p:sp>
      <p:sp>
        <p:nvSpPr>
          <p:cNvPr id="28" name="TextBox 27"/>
          <p:cNvSpPr txBox="1"/>
          <p:nvPr/>
        </p:nvSpPr>
        <p:spPr>
          <a:xfrm>
            <a:off x="502920" y="4023359"/>
            <a:ext cx="5852160" cy="182880"/>
          </a:xfrm>
          <a:prstGeom prst="rect">
            <a:avLst/>
          </a:prstGeom>
          <a:noFill/>
        </p:spPr>
        <p:txBody>
          <a:bodyPr wrap="square">
            <a:spAutoFit/>
          </a:bodyPr>
          <a:lstStyle/>
          <a:p>
            <a:pPr algn="r">
              <a:defRPr sz="1100" b="1">
                <a:solidFill>
                  <a:srgbClr val="FFFFFF"/>
                </a:solidFill>
                <a:latin typeface="Helvetica"/>
              </a:defRPr>
            </a:pPr>
            <a:r>
              <a:t>IPX4</a:t>
            </a:r>
          </a:p>
        </p:txBody>
      </p:sp>
      <p:sp>
        <p:nvSpPr>
          <p:cNvPr id="29" name="Rectangle 28"/>
          <p:cNvSpPr/>
          <p:nvPr/>
        </p:nvSpPr>
        <p:spPr>
          <a:xfrm>
            <a:off x="365760" y="4709160"/>
            <a:ext cx="6126480" cy="27432"/>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65760" y="4800600"/>
            <a:ext cx="6126480" cy="182880"/>
          </a:xfrm>
          <a:prstGeom prst="rect">
            <a:avLst/>
          </a:prstGeom>
          <a:noFill/>
        </p:spPr>
        <p:txBody>
          <a:bodyPr wrap="square">
            <a:spAutoFit/>
          </a:bodyPr>
          <a:lstStyle/>
          <a:p>
            <a:pPr algn="l">
              <a:defRPr sz="1100" b="1">
                <a:solidFill>
                  <a:srgbClr val="4EC978"/>
                </a:solidFill>
                <a:latin typeface="Helvetica"/>
              </a:defRPr>
            </a:pPr>
            <a:r>
              <a:t>BOM ESTIMATE (1k units)</a:t>
            </a:r>
          </a:p>
        </p:txBody>
      </p:sp>
      <p:sp>
        <p:nvSpPr>
          <p:cNvPr id="31" name="Rectangle 30"/>
          <p:cNvSpPr/>
          <p:nvPr/>
        </p:nvSpPr>
        <p:spPr>
          <a:xfrm>
            <a:off x="438912" y="5074920"/>
            <a:ext cx="5980176" cy="210312"/>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5093208"/>
            <a:ext cx="3657600" cy="164592"/>
          </a:xfrm>
          <a:prstGeom prst="rect">
            <a:avLst/>
          </a:prstGeom>
          <a:noFill/>
        </p:spPr>
        <p:txBody>
          <a:bodyPr wrap="square">
            <a:spAutoFit/>
          </a:bodyPr>
          <a:lstStyle/>
          <a:p>
            <a:pPr algn="l">
              <a:defRPr sz="800" b="0">
                <a:solidFill>
                  <a:srgbClr val="F0F0F5"/>
                </a:solidFill>
                <a:latin typeface="Helvetica"/>
              </a:defRPr>
            </a:pPr>
            <a:r>
              <a:t>nRF52832 MCU</a:t>
            </a:r>
          </a:p>
        </p:txBody>
      </p:sp>
      <p:sp>
        <p:nvSpPr>
          <p:cNvPr id="33" name="TextBox 32"/>
          <p:cNvSpPr txBox="1"/>
          <p:nvPr/>
        </p:nvSpPr>
        <p:spPr>
          <a:xfrm>
            <a:off x="548640" y="5093208"/>
            <a:ext cx="5577840" cy="164592"/>
          </a:xfrm>
          <a:prstGeom prst="rect">
            <a:avLst/>
          </a:prstGeom>
          <a:noFill/>
        </p:spPr>
        <p:txBody>
          <a:bodyPr wrap="square">
            <a:spAutoFit/>
          </a:bodyPr>
          <a:lstStyle/>
          <a:p>
            <a:pPr algn="r">
              <a:defRPr sz="800" b="1">
                <a:solidFill>
                  <a:srgbClr val="FFFFFF"/>
                </a:solidFill>
                <a:latin typeface="Helvetica"/>
              </a:defRPr>
            </a:pPr>
            <a:r>
              <a:t>$2.80</a:t>
            </a:r>
          </a:p>
        </p:txBody>
      </p:sp>
      <p:sp>
        <p:nvSpPr>
          <p:cNvPr id="34" name="Rectangle 33"/>
          <p:cNvSpPr/>
          <p:nvPr/>
        </p:nvSpPr>
        <p:spPr>
          <a:xfrm>
            <a:off x="438912" y="5321808"/>
            <a:ext cx="5980176" cy="210312"/>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48640" y="5340096"/>
            <a:ext cx="3657600" cy="164592"/>
          </a:xfrm>
          <a:prstGeom prst="rect">
            <a:avLst/>
          </a:prstGeom>
          <a:noFill/>
        </p:spPr>
        <p:txBody>
          <a:bodyPr wrap="square">
            <a:spAutoFit/>
          </a:bodyPr>
          <a:lstStyle/>
          <a:p>
            <a:pPr algn="l">
              <a:defRPr sz="800" b="0">
                <a:solidFill>
                  <a:srgbClr val="F0F0F5"/>
                </a:solidFill>
                <a:latin typeface="Helvetica"/>
              </a:defRPr>
            </a:pPr>
            <a:r>
              <a:t>DRV2605L haptic driver</a:t>
            </a:r>
          </a:p>
        </p:txBody>
      </p:sp>
      <p:sp>
        <p:nvSpPr>
          <p:cNvPr id="36" name="TextBox 35"/>
          <p:cNvSpPr txBox="1"/>
          <p:nvPr/>
        </p:nvSpPr>
        <p:spPr>
          <a:xfrm>
            <a:off x="548640" y="5340096"/>
            <a:ext cx="5577840" cy="164592"/>
          </a:xfrm>
          <a:prstGeom prst="rect">
            <a:avLst/>
          </a:prstGeom>
          <a:noFill/>
        </p:spPr>
        <p:txBody>
          <a:bodyPr wrap="square">
            <a:spAutoFit/>
          </a:bodyPr>
          <a:lstStyle/>
          <a:p>
            <a:pPr algn="r">
              <a:defRPr sz="800" b="1">
                <a:solidFill>
                  <a:srgbClr val="FFFFFF"/>
                </a:solidFill>
                <a:latin typeface="Helvetica"/>
              </a:defRPr>
            </a:pPr>
            <a:r>
              <a:t>$1.50</a:t>
            </a:r>
          </a:p>
        </p:txBody>
      </p:sp>
      <p:sp>
        <p:nvSpPr>
          <p:cNvPr id="37" name="Rectangle 36"/>
          <p:cNvSpPr/>
          <p:nvPr/>
        </p:nvSpPr>
        <p:spPr>
          <a:xfrm>
            <a:off x="438912" y="5568696"/>
            <a:ext cx="5980176" cy="210312"/>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48640" y="5586984"/>
            <a:ext cx="3657600" cy="164592"/>
          </a:xfrm>
          <a:prstGeom prst="rect">
            <a:avLst/>
          </a:prstGeom>
          <a:noFill/>
        </p:spPr>
        <p:txBody>
          <a:bodyPr wrap="square">
            <a:spAutoFit/>
          </a:bodyPr>
          <a:lstStyle/>
          <a:p>
            <a:pPr algn="l">
              <a:defRPr sz="800" b="0">
                <a:solidFill>
                  <a:srgbClr val="F0F0F5"/>
                </a:solidFill>
                <a:latin typeface="Helvetica"/>
              </a:defRPr>
            </a:pPr>
            <a:r>
              <a:t>LRA motor (8mm)</a:t>
            </a:r>
          </a:p>
        </p:txBody>
      </p:sp>
      <p:sp>
        <p:nvSpPr>
          <p:cNvPr id="39" name="TextBox 38"/>
          <p:cNvSpPr txBox="1"/>
          <p:nvPr/>
        </p:nvSpPr>
        <p:spPr>
          <a:xfrm>
            <a:off x="548640" y="5586984"/>
            <a:ext cx="5577840" cy="164592"/>
          </a:xfrm>
          <a:prstGeom prst="rect">
            <a:avLst/>
          </a:prstGeom>
          <a:noFill/>
        </p:spPr>
        <p:txBody>
          <a:bodyPr wrap="square">
            <a:spAutoFit/>
          </a:bodyPr>
          <a:lstStyle/>
          <a:p>
            <a:pPr algn="r">
              <a:defRPr sz="800" b="1">
                <a:solidFill>
                  <a:srgbClr val="FFFFFF"/>
                </a:solidFill>
                <a:latin typeface="Helvetica"/>
              </a:defRPr>
            </a:pPr>
            <a:r>
              <a:t>$1.50</a:t>
            </a:r>
          </a:p>
        </p:txBody>
      </p:sp>
      <p:sp>
        <p:nvSpPr>
          <p:cNvPr id="40" name="Rectangle 39"/>
          <p:cNvSpPr/>
          <p:nvPr/>
        </p:nvSpPr>
        <p:spPr>
          <a:xfrm>
            <a:off x="438912" y="5815583"/>
            <a:ext cx="5980176" cy="210312"/>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8640" y="5833871"/>
            <a:ext cx="3657600" cy="164592"/>
          </a:xfrm>
          <a:prstGeom prst="rect">
            <a:avLst/>
          </a:prstGeom>
          <a:noFill/>
        </p:spPr>
        <p:txBody>
          <a:bodyPr wrap="square">
            <a:spAutoFit/>
          </a:bodyPr>
          <a:lstStyle/>
          <a:p>
            <a:pPr algn="l">
              <a:defRPr sz="800" b="0">
                <a:solidFill>
                  <a:srgbClr val="F0F0F5"/>
                </a:solidFill>
                <a:latin typeface="Helvetica"/>
              </a:defRPr>
            </a:pPr>
            <a:r>
              <a:t>LIS2DH12 accelerometer</a:t>
            </a:r>
          </a:p>
        </p:txBody>
      </p:sp>
      <p:sp>
        <p:nvSpPr>
          <p:cNvPr id="42" name="TextBox 41"/>
          <p:cNvSpPr txBox="1"/>
          <p:nvPr/>
        </p:nvSpPr>
        <p:spPr>
          <a:xfrm>
            <a:off x="548640" y="5833871"/>
            <a:ext cx="5577840" cy="164592"/>
          </a:xfrm>
          <a:prstGeom prst="rect">
            <a:avLst/>
          </a:prstGeom>
          <a:noFill/>
        </p:spPr>
        <p:txBody>
          <a:bodyPr wrap="square">
            <a:spAutoFit/>
          </a:bodyPr>
          <a:lstStyle/>
          <a:p>
            <a:pPr algn="r">
              <a:defRPr sz="800" b="1">
                <a:solidFill>
                  <a:srgbClr val="FFFFFF"/>
                </a:solidFill>
                <a:latin typeface="Helvetica"/>
              </a:defRPr>
            </a:pPr>
            <a:r>
              <a:t>$0.80</a:t>
            </a:r>
          </a:p>
        </p:txBody>
      </p:sp>
      <p:sp>
        <p:nvSpPr>
          <p:cNvPr id="43" name="Rectangle 42"/>
          <p:cNvSpPr/>
          <p:nvPr/>
        </p:nvSpPr>
        <p:spPr>
          <a:xfrm>
            <a:off x="438912" y="6062472"/>
            <a:ext cx="5980176" cy="210312"/>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6080760"/>
            <a:ext cx="3657600" cy="164592"/>
          </a:xfrm>
          <a:prstGeom prst="rect">
            <a:avLst/>
          </a:prstGeom>
          <a:noFill/>
        </p:spPr>
        <p:txBody>
          <a:bodyPr wrap="square">
            <a:spAutoFit/>
          </a:bodyPr>
          <a:lstStyle/>
          <a:p>
            <a:pPr algn="l">
              <a:defRPr sz="800" b="0">
                <a:solidFill>
                  <a:srgbClr val="F0F0F5"/>
                </a:solidFill>
                <a:latin typeface="Helvetica"/>
              </a:defRPr>
            </a:pPr>
            <a:r>
              <a:t>LiPo 150mAh + protection</a:t>
            </a:r>
          </a:p>
        </p:txBody>
      </p:sp>
      <p:sp>
        <p:nvSpPr>
          <p:cNvPr id="45" name="TextBox 44"/>
          <p:cNvSpPr txBox="1"/>
          <p:nvPr/>
        </p:nvSpPr>
        <p:spPr>
          <a:xfrm>
            <a:off x="548640" y="6080760"/>
            <a:ext cx="5577840" cy="164592"/>
          </a:xfrm>
          <a:prstGeom prst="rect">
            <a:avLst/>
          </a:prstGeom>
          <a:noFill/>
        </p:spPr>
        <p:txBody>
          <a:bodyPr wrap="square">
            <a:spAutoFit/>
          </a:bodyPr>
          <a:lstStyle/>
          <a:p>
            <a:pPr algn="r">
              <a:defRPr sz="800" b="1">
                <a:solidFill>
                  <a:srgbClr val="FFFFFF"/>
                </a:solidFill>
                <a:latin typeface="Helvetica"/>
              </a:defRPr>
            </a:pPr>
            <a:r>
              <a:t>$1.60</a:t>
            </a:r>
          </a:p>
        </p:txBody>
      </p:sp>
      <p:sp>
        <p:nvSpPr>
          <p:cNvPr id="46" name="Rectangle 45"/>
          <p:cNvSpPr/>
          <p:nvPr/>
        </p:nvSpPr>
        <p:spPr>
          <a:xfrm>
            <a:off x="438912" y="6309360"/>
            <a:ext cx="5980176" cy="210312"/>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6327648"/>
            <a:ext cx="3657600" cy="164592"/>
          </a:xfrm>
          <a:prstGeom prst="rect">
            <a:avLst/>
          </a:prstGeom>
          <a:noFill/>
        </p:spPr>
        <p:txBody>
          <a:bodyPr wrap="square">
            <a:spAutoFit/>
          </a:bodyPr>
          <a:lstStyle/>
          <a:p>
            <a:pPr algn="l">
              <a:defRPr sz="800" b="0">
                <a:solidFill>
                  <a:srgbClr val="F0F0F5"/>
                </a:solidFill>
                <a:latin typeface="Helvetica"/>
              </a:defRPr>
            </a:pPr>
            <a:r>
              <a:t>Crystals + LED + passives</a:t>
            </a:r>
          </a:p>
        </p:txBody>
      </p:sp>
      <p:sp>
        <p:nvSpPr>
          <p:cNvPr id="48" name="TextBox 47"/>
          <p:cNvSpPr txBox="1"/>
          <p:nvPr/>
        </p:nvSpPr>
        <p:spPr>
          <a:xfrm>
            <a:off x="548640" y="6327648"/>
            <a:ext cx="5577840" cy="164592"/>
          </a:xfrm>
          <a:prstGeom prst="rect">
            <a:avLst/>
          </a:prstGeom>
          <a:noFill/>
        </p:spPr>
        <p:txBody>
          <a:bodyPr wrap="square">
            <a:spAutoFit/>
          </a:bodyPr>
          <a:lstStyle/>
          <a:p>
            <a:pPr algn="r">
              <a:defRPr sz="800" b="1">
                <a:solidFill>
                  <a:srgbClr val="FFFFFF"/>
                </a:solidFill>
                <a:latin typeface="Helvetica"/>
              </a:defRPr>
            </a:pPr>
            <a:r>
              <a:t>$0.70</a:t>
            </a:r>
          </a:p>
        </p:txBody>
      </p:sp>
      <p:sp>
        <p:nvSpPr>
          <p:cNvPr id="49" name="Rectangle 48"/>
          <p:cNvSpPr/>
          <p:nvPr/>
        </p:nvSpPr>
        <p:spPr>
          <a:xfrm>
            <a:off x="438912" y="6556248"/>
            <a:ext cx="5980176" cy="210312"/>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6574536"/>
            <a:ext cx="3657600" cy="164592"/>
          </a:xfrm>
          <a:prstGeom prst="rect">
            <a:avLst/>
          </a:prstGeom>
          <a:noFill/>
        </p:spPr>
        <p:txBody>
          <a:bodyPr wrap="square">
            <a:spAutoFit/>
          </a:bodyPr>
          <a:lstStyle/>
          <a:p>
            <a:pPr algn="l">
              <a:defRPr sz="800" b="0">
                <a:solidFill>
                  <a:srgbClr val="F0F0F5"/>
                </a:solidFill>
                <a:latin typeface="Helvetica"/>
              </a:defRPr>
            </a:pPr>
            <a:r>
              <a:t>USB-C + charge IC + LDO</a:t>
            </a:r>
          </a:p>
        </p:txBody>
      </p:sp>
      <p:sp>
        <p:nvSpPr>
          <p:cNvPr id="51" name="TextBox 50"/>
          <p:cNvSpPr txBox="1"/>
          <p:nvPr/>
        </p:nvSpPr>
        <p:spPr>
          <a:xfrm>
            <a:off x="548640" y="6574536"/>
            <a:ext cx="5577840" cy="164592"/>
          </a:xfrm>
          <a:prstGeom prst="rect">
            <a:avLst/>
          </a:prstGeom>
          <a:noFill/>
        </p:spPr>
        <p:txBody>
          <a:bodyPr wrap="square">
            <a:spAutoFit/>
          </a:bodyPr>
          <a:lstStyle/>
          <a:p>
            <a:pPr algn="r">
              <a:defRPr sz="800" b="1">
                <a:solidFill>
                  <a:srgbClr val="FFFFFF"/>
                </a:solidFill>
                <a:latin typeface="Helvetica"/>
              </a:defRPr>
            </a:pPr>
            <a:r>
              <a:t>$0.95</a:t>
            </a:r>
          </a:p>
        </p:txBody>
      </p:sp>
      <p:sp>
        <p:nvSpPr>
          <p:cNvPr id="52" name="Rectangle 51"/>
          <p:cNvSpPr/>
          <p:nvPr/>
        </p:nvSpPr>
        <p:spPr>
          <a:xfrm>
            <a:off x="438912" y="6803136"/>
            <a:ext cx="5980176" cy="210312"/>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48640" y="6821424"/>
            <a:ext cx="3657600" cy="164592"/>
          </a:xfrm>
          <a:prstGeom prst="rect">
            <a:avLst/>
          </a:prstGeom>
          <a:noFill/>
        </p:spPr>
        <p:txBody>
          <a:bodyPr wrap="square">
            <a:spAutoFit/>
          </a:bodyPr>
          <a:lstStyle/>
          <a:p>
            <a:pPr algn="l">
              <a:defRPr sz="800" b="0">
                <a:solidFill>
                  <a:srgbClr val="F0F0F5"/>
                </a:solidFill>
                <a:latin typeface="Helvetica"/>
              </a:defRPr>
            </a:pPr>
            <a:r>
              <a:t>PCB (28x18mm, 4-layer)</a:t>
            </a:r>
          </a:p>
        </p:txBody>
      </p:sp>
      <p:sp>
        <p:nvSpPr>
          <p:cNvPr id="54" name="TextBox 53"/>
          <p:cNvSpPr txBox="1"/>
          <p:nvPr/>
        </p:nvSpPr>
        <p:spPr>
          <a:xfrm>
            <a:off x="548640" y="6821424"/>
            <a:ext cx="5577840" cy="164592"/>
          </a:xfrm>
          <a:prstGeom prst="rect">
            <a:avLst/>
          </a:prstGeom>
          <a:noFill/>
        </p:spPr>
        <p:txBody>
          <a:bodyPr wrap="square">
            <a:spAutoFit/>
          </a:bodyPr>
          <a:lstStyle/>
          <a:p>
            <a:pPr algn="r">
              <a:defRPr sz="800" b="1">
                <a:solidFill>
                  <a:srgbClr val="FFFFFF"/>
                </a:solidFill>
                <a:latin typeface="Helvetica"/>
              </a:defRPr>
            </a:pPr>
            <a:r>
              <a:t>$0.80</a:t>
            </a:r>
          </a:p>
        </p:txBody>
      </p:sp>
      <p:sp>
        <p:nvSpPr>
          <p:cNvPr id="55" name="Rectangle 54"/>
          <p:cNvSpPr/>
          <p:nvPr/>
        </p:nvSpPr>
        <p:spPr>
          <a:xfrm>
            <a:off x="438912" y="7050024"/>
            <a:ext cx="5980176" cy="210312"/>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7068312"/>
            <a:ext cx="3657600" cy="164592"/>
          </a:xfrm>
          <a:prstGeom prst="rect">
            <a:avLst/>
          </a:prstGeom>
          <a:noFill/>
        </p:spPr>
        <p:txBody>
          <a:bodyPr wrap="square">
            <a:spAutoFit/>
          </a:bodyPr>
          <a:lstStyle/>
          <a:p>
            <a:pPr algn="l">
              <a:defRPr sz="800" b="0">
                <a:solidFill>
                  <a:srgbClr val="F0F0F5"/>
                </a:solidFill>
                <a:latin typeface="Helvetica"/>
              </a:defRPr>
            </a:pPr>
            <a:r>
              <a:t>Pod enclosure (silicone overmold)</a:t>
            </a:r>
          </a:p>
        </p:txBody>
      </p:sp>
      <p:sp>
        <p:nvSpPr>
          <p:cNvPr id="57" name="TextBox 56"/>
          <p:cNvSpPr txBox="1"/>
          <p:nvPr/>
        </p:nvSpPr>
        <p:spPr>
          <a:xfrm>
            <a:off x="548640" y="7068312"/>
            <a:ext cx="5577840" cy="164592"/>
          </a:xfrm>
          <a:prstGeom prst="rect">
            <a:avLst/>
          </a:prstGeom>
          <a:noFill/>
        </p:spPr>
        <p:txBody>
          <a:bodyPr wrap="square">
            <a:spAutoFit/>
          </a:bodyPr>
          <a:lstStyle/>
          <a:p>
            <a:pPr algn="r">
              <a:defRPr sz="800" b="1">
                <a:solidFill>
                  <a:srgbClr val="FFFFFF"/>
                </a:solidFill>
                <a:latin typeface="Helvetica"/>
              </a:defRPr>
            </a:pPr>
            <a:r>
              <a:t>$2.50</a:t>
            </a:r>
          </a:p>
        </p:txBody>
      </p:sp>
      <p:sp>
        <p:nvSpPr>
          <p:cNvPr id="58" name="Rectangle 57"/>
          <p:cNvSpPr/>
          <p:nvPr/>
        </p:nvSpPr>
        <p:spPr>
          <a:xfrm>
            <a:off x="438912" y="7296912"/>
            <a:ext cx="5980176" cy="210312"/>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48640" y="7315200"/>
            <a:ext cx="3657600" cy="164592"/>
          </a:xfrm>
          <a:prstGeom prst="rect">
            <a:avLst/>
          </a:prstGeom>
          <a:noFill/>
        </p:spPr>
        <p:txBody>
          <a:bodyPr wrap="square">
            <a:spAutoFit/>
          </a:bodyPr>
          <a:lstStyle/>
          <a:p>
            <a:pPr algn="l">
              <a:defRPr sz="800" b="0">
                <a:solidFill>
                  <a:srgbClr val="F0F0F5"/>
                </a:solidFill>
                <a:latin typeface="Helvetica"/>
              </a:defRPr>
            </a:pPr>
            <a:r>
              <a:t>Silicone wristband + lugs</a:t>
            </a:r>
          </a:p>
        </p:txBody>
      </p:sp>
      <p:sp>
        <p:nvSpPr>
          <p:cNvPr id="60" name="TextBox 59"/>
          <p:cNvSpPr txBox="1"/>
          <p:nvPr/>
        </p:nvSpPr>
        <p:spPr>
          <a:xfrm>
            <a:off x="548640" y="7315200"/>
            <a:ext cx="5577840" cy="164592"/>
          </a:xfrm>
          <a:prstGeom prst="rect">
            <a:avLst/>
          </a:prstGeom>
          <a:noFill/>
        </p:spPr>
        <p:txBody>
          <a:bodyPr wrap="square">
            <a:spAutoFit/>
          </a:bodyPr>
          <a:lstStyle/>
          <a:p>
            <a:pPr algn="r">
              <a:defRPr sz="800" b="1">
                <a:solidFill>
                  <a:srgbClr val="FFFFFF"/>
                </a:solidFill>
                <a:latin typeface="Helvetica"/>
              </a:defRPr>
            </a:pPr>
            <a:r>
              <a:t>$1.20</a:t>
            </a:r>
          </a:p>
        </p:txBody>
      </p:sp>
      <p:sp>
        <p:nvSpPr>
          <p:cNvPr id="61" name="Rectangle 60"/>
          <p:cNvSpPr/>
          <p:nvPr/>
        </p:nvSpPr>
        <p:spPr>
          <a:xfrm>
            <a:off x="438912" y="7543800"/>
            <a:ext cx="5980176" cy="210312"/>
          </a:xfrm>
          <a:prstGeom prst="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7562088"/>
            <a:ext cx="3657600" cy="164592"/>
          </a:xfrm>
          <a:prstGeom prst="rect">
            <a:avLst/>
          </a:prstGeom>
          <a:noFill/>
        </p:spPr>
        <p:txBody>
          <a:bodyPr wrap="square">
            <a:spAutoFit/>
          </a:bodyPr>
          <a:lstStyle/>
          <a:p>
            <a:pPr algn="l">
              <a:defRPr sz="800" b="0">
                <a:solidFill>
                  <a:srgbClr val="F0F0F5"/>
                </a:solidFill>
                <a:latin typeface="Helvetica"/>
              </a:defRPr>
            </a:pPr>
            <a:r>
              <a:t>Packaging + USB-C cable</a:t>
            </a:r>
          </a:p>
        </p:txBody>
      </p:sp>
      <p:sp>
        <p:nvSpPr>
          <p:cNvPr id="63" name="TextBox 62"/>
          <p:cNvSpPr txBox="1"/>
          <p:nvPr/>
        </p:nvSpPr>
        <p:spPr>
          <a:xfrm>
            <a:off x="548640" y="7562088"/>
            <a:ext cx="5577840" cy="164592"/>
          </a:xfrm>
          <a:prstGeom prst="rect">
            <a:avLst/>
          </a:prstGeom>
          <a:noFill/>
        </p:spPr>
        <p:txBody>
          <a:bodyPr wrap="square">
            <a:spAutoFit/>
          </a:bodyPr>
          <a:lstStyle/>
          <a:p>
            <a:pPr algn="r">
              <a:defRPr sz="800" b="1">
                <a:solidFill>
                  <a:srgbClr val="FFFFFF"/>
                </a:solidFill>
                <a:latin typeface="Helvetica"/>
              </a:defRPr>
            </a:pPr>
            <a:r>
              <a:t>$1.20</a:t>
            </a:r>
          </a:p>
        </p:txBody>
      </p:sp>
      <p:sp>
        <p:nvSpPr>
          <p:cNvPr id="64" name="Rectangle 63"/>
          <p:cNvSpPr/>
          <p:nvPr/>
        </p:nvSpPr>
        <p:spPr>
          <a:xfrm>
            <a:off x="438912" y="7790688"/>
            <a:ext cx="5980176" cy="210312"/>
          </a:xfrm>
          <a:prstGeom prst="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48640" y="7808976"/>
            <a:ext cx="3657600" cy="164592"/>
          </a:xfrm>
          <a:prstGeom prst="rect">
            <a:avLst/>
          </a:prstGeom>
          <a:noFill/>
        </p:spPr>
        <p:txBody>
          <a:bodyPr wrap="square">
            <a:spAutoFit/>
          </a:bodyPr>
          <a:lstStyle/>
          <a:p>
            <a:pPr algn="l">
              <a:defRPr sz="800" b="0">
                <a:solidFill>
                  <a:srgbClr val="F0F0F5"/>
                </a:solidFill>
                <a:latin typeface="Helvetica"/>
              </a:defRPr>
            </a:pPr>
            <a:r>
              <a:t>Assembly + test</a:t>
            </a:r>
          </a:p>
        </p:txBody>
      </p:sp>
      <p:sp>
        <p:nvSpPr>
          <p:cNvPr id="66" name="TextBox 65"/>
          <p:cNvSpPr txBox="1"/>
          <p:nvPr/>
        </p:nvSpPr>
        <p:spPr>
          <a:xfrm>
            <a:off x="548640" y="7808976"/>
            <a:ext cx="5577840" cy="164592"/>
          </a:xfrm>
          <a:prstGeom prst="rect">
            <a:avLst/>
          </a:prstGeom>
          <a:noFill/>
        </p:spPr>
        <p:txBody>
          <a:bodyPr wrap="square">
            <a:spAutoFit/>
          </a:bodyPr>
          <a:lstStyle/>
          <a:p>
            <a:pPr algn="r">
              <a:defRPr sz="800" b="1">
                <a:solidFill>
                  <a:srgbClr val="FFFFFF"/>
                </a:solidFill>
                <a:latin typeface="Helvetica"/>
              </a:defRPr>
            </a:pPr>
            <a:r>
              <a:t>$2.50</a:t>
            </a:r>
          </a:p>
        </p:txBody>
      </p:sp>
      <p:sp>
        <p:nvSpPr>
          <p:cNvPr id="67" name="Rectangle 66"/>
          <p:cNvSpPr/>
          <p:nvPr/>
        </p:nvSpPr>
        <p:spPr>
          <a:xfrm>
            <a:off x="438912" y="8065008"/>
            <a:ext cx="5980176" cy="27432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48640" y="8083296"/>
            <a:ext cx="1828800" cy="228600"/>
          </a:xfrm>
          <a:prstGeom prst="rect">
            <a:avLst/>
          </a:prstGeom>
          <a:noFill/>
        </p:spPr>
        <p:txBody>
          <a:bodyPr wrap="square">
            <a:spAutoFit/>
          </a:bodyPr>
          <a:lstStyle/>
          <a:p>
            <a:pPr algn="l">
              <a:defRPr sz="1000" b="1">
                <a:solidFill>
                  <a:srgbClr val="FFFFFF"/>
                </a:solidFill>
                <a:latin typeface="Helvetica"/>
              </a:defRPr>
            </a:pPr>
            <a:r>
              <a:t>Total COGS</a:t>
            </a:r>
          </a:p>
        </p:txBody>
      </p:sp>
      <p:sp>
        <p:nvSpPr>
          <p:cNvPr id="69" name="TextBox 68"/>
          <p:cNvSpPr txBox="1"/>
          <p:nvPr/>
        </p:nvSpPr>
        <p:spPr>
          <a:xfrm>
            <a:off x="548640" y="8083296"/>
            <a:ext cx="5577840" cy="228600"/>
          </a:xfrm>
          <a:prstGeom prst="rect">
            <a:avLst/>
          </a:prstGeom>
          <a:noFill/>
        </p:spPr>
        <p:txBody>
          <a:bodyPr wrap="square">
            <a:spAutoFit/>
          </a:bodyPr>
          <a:lstStyle/>
          <a:p>
            <a:pPr algn="r">
              <a:defRPr sz="1000" b="1">
                <a:solidFill>
                  <a:srgbClr val="FFFFFF"/>
                </a:solidFill>
                <a:latin typeface="Helvetica"/>
              </a:defRPr>
            </a:pPr>
            <a:r>
              <a:t>~$18.05  (5k: ~$14.50)</a:t>
            </a:r>
          </a:p>
        </p:txBody>
      </p:sp>
      <p:sp>
        <p:nvSpPr>
          <p:cNvPr id="70" name="TextBox 69"/>
          <p:cNvSpPr txBox="1"/>
          <p:nvPr/>
        </p:nvSpPr>
        <p:spPr>
          <a:xfrm>
            <a:off x="6126480" y="8298180"/>
            <a:ext cx="548640" cy="228600"/>
          </a:xfrm>
          <a:prstGeom prst="rect">
            <a:avLst/>
          </a:prstGeom>
          <a:noFill/>
        </p:spPr>
        <p:txBody>
          <a:bodyPr wrap="square">
            <a:spAutoFit/>
          </a:bodyPr>
          <a:lstStyle/>
          <a:p>
            <a:pPr algn="r">
              <a:defRPr sz="800" b="0">
                <a:solidFill>
                  <a:srgbClr val="BBBBCC"/>
                </a:solidFill>
                <a:latin typeface="Helvetica"/>
              </a:defRPr>
            </a:pPr>
            <a:r>
              <a:t>6/8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858000" cy="73152"/>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6126480" cy="457200"/>
          </a:xfrm>
          <a:prstGeom prst="rect">
            <a:avLst/>
          </a:prstGeom>
          <a:noFill/>
        </p:spPr>
        <p:txBody>
          <a:bodyPr wrap="square">
            <a:spAutoFit/>
          </a:bodyPr>
          <a:lstStyle/>
          <a:p>
            <a:pPr algn="l">
              <a:defRPr sz="2800" b="1">
                <a:solidFill>
                  <a:srgbClr val="FFFFFF"/>
                </a:solidFill>
                <a:latin typeface="Helvetica"/>
              </a:defRPr>
            </a:pPr>
            <a:r>
              <a:t>Hardest Problems</a:t>
            </a:r>
          </a:p>
        </p:txBody>
      </p:sp>
      <p:sp>
        <p:nvSpPr>
          <p:cNvPr id="4" name="Rectangle 3"/>
          <p:cNvSpPr/>
          <p:nvPr/>
        </p:nvSpPr>
        <p:spPr>
          <a:xfrm>
            <a:off x="365760" y="777240"/>
            <a:ext cx="1097280" cy="27432"/>
          </a:xfrm>
          <a:prstGeom prst="rect">
            <a:avLst/>
          </a:prstGeom>
          <a:solidFill>
            <a:srgbClr val="FF4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51560"/>
            <a:ext cx="6126480" cy="196596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88720"/>
            <a:ext cx="5760720" cy="228600"/>
          </a:xfrm>
          <a:prstGeom prst="rect">
            <a:avLst/>
          </a:prstGeom>
          <a:noFill/>
        </p:spPr>
        <p:txBody>
          <a:bodyPr wrap="square">
            <a:spAutoFit/>
          </a:bodyPr>
          <a:lstStyle/>
          <a:p>
            <a:pPr algn="l">
              <a:defRPr sz="1300" b="1">
                <a:solidFill>
                  <a:srgbClr val="FFFFFF"/>
                </a:solidFill>
                <a:latin typeface="Helvetica"/>
              </a:defRPr>
            </a:pPr>
            <a:r>
              <a:t>1. Haptic perceptibility during playing</a:t>
            </a:r>
          </a:p>
        </p:txBody>
      </p:sp>
      <p:sp>
        <p:nvSpPr>
          <p:cNvPr id="7" name="TextBox 6"/>
          <p:cNvSpPr txBox="1"/>
          <p:nvPr/>
        </p:nvSpPr>
        <p:spPr>
          <a:xfrm>
            <a:off x="548640" y="1554480"/>
            <a:ext cx="5760720" cy="1280160"/>
          </a:xfrm>
          <a:prstGeom prst="rect">
            <a:avLst/>
          </a:prstGeom>
          <a:noFill/>
        </p:spPr>
        <p:txBody>
          <a:bodyPr wrap="square">
            <a:spAutoFit/>
          </a:bodyPr>
          <a:lstStyle/>
          <a:p>
            <a:pPr algn="l">
              <a:defRPr sz="1000" b="0">
                <a:solidFill>
                  <a:srgbClr val="BBBBCC"/>
                </a:solidFill>
                <a:latin typeface="Helvetica"/>
              </a:defRPr>
            </a:pPr>
            <a:r>
              <a:t>Can the LRA pulse (~1.5g) be felt on the wrist while strumming guitar, bowing violin, or playing piano expressively? Arm motion creates competing vibrations. Tight skin contact and sharp LRA rise time are the primary mitigations. Must prototype and test with real musicians.</a:t>
            </a:r>
          </a:p>
        </p:txBody>
      </p:sp>
      <p:sp>
        <p:nvSpPr>
          <p:cNvPr id="8" name="Rounded Rectangle 7"/>
          <p:cNvSpPr/>
          <p:nvPr/>
        </p:nvSpPr>
        <p:spPr>
          <a:xfrm>
            <a:off x="365760" y="3246120"/>
            <a:ext cx="6126480" cy="196596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3383280"/>
            <a:ext cx="5760720" cy="228600"/>
          </a:xfrm>
          <a:prstGeom prst="rect">
            <a:avLst/>
          </a:prstGeom>
          <a:noFill/>
        </p:spPr>
        <p:txBody>
          <a:bodyPr wrap="square">
            <a:spAutoFit/>
          </a:bodyPr>
          <a:lstStyle/>
          <a:p>
            <a:pPr algn="l">
              <a:defRPr sz="1300" b="1">
                <a:solidFill>
                  <a:srgbClr val="FFFFFF"/>
                </a:solidFill>
                <a:latin typeface="Helvetica"/>
              </a:defRPr>
            </a:pPr>
            <a:r>
              <a:t>2. Tap gesture vs. playing motion</a:t>
            </a:r>
          </a:p>
        </p:txBody>
      </p:sp>
      <p:sp>
        <p:nvSpPr>
          <p:cNvPr id="10" name="TextBox 9"/>
          <p:cNvSpPr txBox="1"/>
          <p:nvPr/>
        </p:nvSpPr>
        <p:spPr>
          <a:xfrm>
            <a:off x="548640" y="3749040"/>
            <a:ext cx="5760720" cy="1280160"/>
          </a:xfrm>
          <a:prstGeom prst="rect">
            <a:avLst/>
          </a:prstGeom>
          <a:noFill/>
        </p:spPr>
        <p:txBody>
          <a:bodyPr wrap="square">
            <a:spAutoFit/>
          </a:bodyPr>
          <a:lstStyle/>
          <a:p>
            <a:pPr algn="l">
              <a:defRPr sz="1000" b="0">
                <a:solidFill>
                  <a:srgbClr val="BBBBCC"/>
                </a:solidFill>
                <a:latin typeface="Helvetica"/>
              </a:defRPr>
            </a:pPr>
            <a:r>
              <a:t>The accelerometer must reliably detect a deliberate fingertip tap on the pod while rejecting strumming, bowing, and arm movement. Two-stage detection: hardware threshold trigger, then firmware Z-axis dominance validation. Target: &lt; 1% false trigger, &lt; 5% missed tap.</a:t>
            </a:r>
          </a:p>
        </p:txBody>
      </p:sp>
      <p:sp>
        <p:nvSpPr>
          <p:cNvPr id="11" name="Rounded Rectangle 10"/>
          <p:cNvSpPr/>
          <p:nvPr/>
        </p:nvSpPr>
        <p:spPr>
          <a:xfrm>
            <a:off x="365760" y="5440679"/>
            <a:ext cx="6126480" cy="196596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5577839"/>
            <a:ext cx="5760720" cy="228600"/>
          </a:xfrm>
          <a:prstGeom prst="rect">
            <a:avLst/>
          </a:prstGeom>
          <a:noFill/>
        </p:spPr>
        <p:txBody>
          <a:bodyPr wrap="square">
            <a:spAutoFit/>
          </a:bodyPr>
          <a:lstStyle/>
          <a:p>
            <a:pPr algn="l">
              <a:defRPr sz="1300" b="1">
                <a:solidFill>
                  <a:srgbClr val="FFFFFF"/>
                </a:solidFill>
                <a:latin typeface="Helvetica"/>
              </a:defRPr>
            </a:pPr>
            <a:r>
              <a:t>3. Downbeat perception at tempo</a:t>
            </a:r>
          </a:p>
        </p:txBody>
      </p:sp>
      <p:sp>
        <p:nvSpPr>
          <p:cNvPr id="13" name="TextBox 12"/>
          <p:cNvSpPr txBox="1"/>
          <p:nvPr/>
        </p:nvSpPr>
        <p:spPr>
          <a:xfrm>
            <a:off x="548640" y="5943599"/>
            <a:ext cx="5760720" cy="1280160"/>
          </a:xfrm>
          <a:prstGeom prst="rect">
            <a:avLst/>
          </a:prstGeom>
          <a:noFill/>
        </p:spPr>
        <p:txBody>
          <a:bodyPr wrap="square">
            <a:spAutoFit/>
          </a:bodyPr>
          <a:lstStyle/>
          <a:p>
            <a:pPr algn="l">
              <a:defRPr sz="1000" b="0">
                <a:solidFill>
                  <a:srgbClr val="BBBBCC"/>
                </a:solidFill>
                <a:latin typeface="Helvetica"/>
              </a:defRPr>
            </a:pPr>
            <a:r>
              <a:t>Can musicians distinguish the dual-pulse downbeat from a single pulse at 120, 160, and 200 BPM? At 200 BPM the 70 ms dual-pulse occupies 23% of the beat interval. The 40 ms gap must be above tactile temporal resolution (~5-10 ms). Needs testing with 5+ musicians across instruments.</a:t>
            </a:r>
          </a:p>
        </p:txBody>
      </p:sp>
      <p:sp>
        <p:nvSpPr>
          <p:cNvPr id="14" name="Rounded Rectangle 13"/>
          <p:cNvSpPr/>
          <p:nvPr/>
        </p:nvSpPr>
        <p:spPr>
          <a:xfrm>
            <a:off x="365760" y="7680960"/>
            <a:ext cx="6126480" cy="54864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2920" y="7726679"/>
            <a:ext cx="5852160" cy="457200"/>
          </a:xfrm>
          <a:prstGeom prst="rect">
            <a:avLst/>
          </a:prstGeom>
          <a:noFill/>
        </p:spPr>
        <p:txBody>
          <a:bodyPr wrap="square">
            <a:spAutoFit/>
          </a:bodyPr>
          <a:lstStyle/>
          <a:p>
            <a:pPr algn="l">
              <a:defRPr sz="1100" b="0">
                <a:solidFill>
                  <a:srgbClr val="FF8C00"/>
                </a:solidFill>
                <a:latin typeface="Helvetica"/>
              </a:defRPr>
            </a:pPr>
            <a:r>
              <a:t>All three require prototype validation with real musicians. No amount of simulation replaces putting this on a wrist.</a:t>
            </a:r>
          </a:p>
        </p:txBody>
      </p:sp>
      <p:sp>
        <p:nvSpPr>
          <p:cNvPr id="16" name="TextBox 15"/>
          <p:cNvSpPr txBox="1"/>
          <p:nvPr/>
        </p:nvSpPr>
        <p:spPr>
          <a:xfrm>
            <a:off x="6126480" y="8298180"/>
            <a:ext cx="548640" cy="228600"/>
          </a:xfrm>
          <a:prstGeom prst="rect">
            <a:avLst/>
          </a:prstGeom>
          <a:noFill/>
        </p:spPr>
        <p:txBody>
          <a:bodyPr wrap="square">
            <a:spAutoFit/>
          </a:bodyPr>
          <a:lstStyle/>
          <a:p>
            <a:pPr algn="r">
              <a:defRPr sz="800" b="0">
                <a:solidFill>
                  <a:srgbClr val="BBBBCC"/>
                </a:solidFill>
                <a:latin typeface="Helvetica"/>
              </a:defRPr>
            </a:pPr>
            <a:r>
              <a:t>7/8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6858000" cy="73152"/>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6126480" cy="457200"/>
          </a:xfrm>
          <a:prstGeom prst="rect">
            <a:avLst/>
          </a:prstGeom>
          <a:noFill/>
        </p:spPr>
        <p:txBody>
          <a:bodyPr wrap="square">
            <a:spAutoFit/>
          </a:bodyPr>
          <a:lstStyle/>
          <a:p>
            <a:pPr algn="l">
              <a:defRPr sz="2800" b="1">
                <a:solidFill>
                  <a:srgbClr val="FFFFFF"/>
                </a:solidFill>
                <a:latin typeface="Helvetica"/>
              </a:defRPr>
            </a:pPr>
            <a:r>
              <a:t>Gate Result &amp; Next</a:t>
            </a:r>
          </a:p>
        </p:txBody>
      </p:sp>
      <p:sp>
        <p:nvSpPr>
          <p:cNvPr id="4" name="Rectangle 3"/>
          <p:cNvSpPr/>
          <p:nvPr/>
        </p:nvSpPr>
        <p:spPr>
          <a:xfrm>
            <a:off x="365760" y="777240"/>
            <a:ext cx="1097280" cy="27432"/>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365760" y="1005840"/>
            <a:ext cx="6126480" cy="77724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097280"/>
            <a:ext cx="1828800" cy="548640"/>
          </a:xfrm>
          <a:prstGeom prst="rect">
            <a:avLst/>
          </a:prstGeom>
          <a:solidFill>
            <a:srgbClr val="4EC9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115568"/>
            <a:ext cx="1645920" cy="274320"/>
          </a:xfrm>
          <a:prstGeom prst="rect">
            <a:avLst/>
          </a:prstGeom>
          <a:noFill/>
        </p:spPr>
        <p:txBody>
          <a:bodyPr wrap="square">
            <a:spAutoFit/>
          </a:bodyPr>
          <a:lstStyle/>
          <a:p>
            <a:pPr algn="l">
              <a:defRPr sz="1600" b="1">
                <a:solidFill>
                  <a:srgbClr val="FFFFFF"/>
                </a:solidFill>
                <a:latin typeface="Helvetica"/>
              </a:defRPr>
            </a:pPr>
            <a:r>
              <a:t>GATE: PASS</a:t>
            </a:r>
          </a:p>
        </p:txBody>
      </p:sp>
      <p:sp>
        <p:nvSpPr>
          <p:cNvPr id="8" name="TextBox 7"/>
          <p:cNvSpPr txBox="1"/>
          <p:nvPr/>
        </p:nvSpPr>
        <p:spPr>
          <a:xfrm>
            <a:off x="640080" y="1389888"/>
            <a:ext cx="1645920" cy="182880"/>
          </a:xfrm>
          <a:prstGeom prst="rect">
            <a:avLst/>
          </a:prstGeom>
          <a:noFill/>
        </p:spPr>
        <p:txBody>
          <a:bodyPr wrap="square">
            <a:spAutoFit/>
          </a:bodyPr>
          <a:lstStyle/>
          <a:p>
            <a:pPr algn="l">
              <a:defRPr sz="900" b="0">
                <a:solidFill>
                  <a:srgbClr val="FFFFFF"/>
                </a:solidFill>
                <a:latin typeface="Helvetica"/>
              </a:defRPr>
            </a:pPr>
            <a:r>
              <a:t>89 / 2 N/A / 0 fail</a:t>
            </a:r>
          </a:p>
        </p:txBody>
      </p:sp>
      <p:sp>
        <p:nvSpPr>
          <p:cNvPr id="9" name="TextBox 8"/>
          <p:cNvSpPr txBox="1"/>
          <p:nvPr/>
        </p:nvSpPr>
        <p:spPr>
          <a:xfrm>
            <a:off x="2560320" y="1170432"/>
            <a:ext cx="3657600" cy="182880"/>
          </a:xfrm>
          <a:prstGeom prst="rect">
            <a:avLst/>
          </a:prstGeom>
          <a:noFill/>
        </p:spPr>
        <p:txBody>
          <a:bodyPr wrap="square">
            <a:spAutoFit/>
          </a:bodyPr>
          <a:lstStyle/>
          <a:p>
            <a:pPr algn="l">
              <a:defRPr sz="1100" b="0">
                <a:solidFill>
                  <a:srgbClr val="FFFFFF"/>
                </a:solidFill>
                <a:latin typeface="Helvetica"/>
              </a:defRPr>
            </a:pPr>
            <a:r>
              <a:t>Full system description complete.</a:t>
            </a:r>
          </a:p>
        </p:txBody>
      </p:sp>
      <p:sp>
        <p:nvSpPr>
          <p:cNvPr id="10" name="TextBox 9"/>
          <p:cNvSpPr txBox="1"/>
          <p:nvPr/>
        </p:nvSpPr>
        <p:spPr>
          <a:xfrm>
            <a:off x="2560320" y="1417320"/>
            <a:ext cx="3657600" cy="182880"/>
          </a:xfrm>
          <a:prstGeom prst="rect">
            <a:avLst/>
          </a:prstGeom>
          <a:noFill/>
        </p:spPr>
        <p:txBody>
          <a:bodyPr wrap="square">
            <a:spAutoFit/>
          </a:bodyPr>
          <a:lstStyle/>
          <a:p>
            <a:pPr algn="l">
              <a:defRPr sz="1100" b="1">
                <a:solidFill>
                  <a:srgbClr val="4EC978"/>
                </a:solidFill>
                <a:latin typeface="Helvetica"/>
              </a:defRPr>
            </a:pPr>
            <a:r>
              <a:t>Ready to proceed to PRD.</a:t>
            </a:r>
          </a:p>
        </p:txBody>
      </p:sp>
      <p:sp>
        <p:nvSpPr>
          <p:cNvPr id="11" name="Rounded Rectangle 10"/>
          <p:cNvSpPr/>
          <p:nvPr/>
        </p:nvSpPr>
        <p:spPr>
          <a:xfrm>
            <a:off x="365760" y="1920240"/>
            <a:ext cx="6126480" cy="77724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965960"/>
            <a:ext cx="6126480" cy="182880"/>
          </a:xfrm>
          <a:prstGeom prst="rect">
            <a:avLst/>
          </a:prstGeom>
          <a:noFill/>
        </p:spPr>
        <p:txBody>
          <a:bodyPr wrap="square">
            <a:spAutoFit/>
          </a:bodyPr>
          <a:lstStyle/>
          <a:p>
            <a:pPr algn="l">
              <a:defRPr sz="1000" b="1">
                <a:solidFill>
                  <a:srgbClr val="009BF5"/>
                </a:solidFill>
                <a:latin typeface="Helvetica"/>
              </a:defRPr>
            </a:pPr>
            <a:r>
              <a:t>POWER</a:t>
            </a:r>
          </a:p>
        </p:txBody>
      </p:sp>
      <p:sp>
        <p:nvSpPr>
          <p:cNvPr id="13" name="TextBox 12"/>
          <p:cNvSpPr txBox="1"/>
          <p:nvPr/>
        </p:nvSpPr>
        <p:spPr>
          <a:xfrm>
            <a:off x="502920" y="2194560"/>
            <a:ext cx="6126480" cy="182880"/>
          </a:xfrm>
          <a:prstGeom prst="rect">
            <a:avLst/>
          </a:prstGeom>
          <a:noFill/>
        </p:spPr>
        <p:txBody>
          <a:bodyPr wrap="square">
            <a:spAutoFit/>
          </a:bodyPr>
          <a:lstStyle/>
          <a:p>
            <a:pPr algn="l">
              <a:defRPr sz="1100" b="0">
                <a:solidFill>
                  <a:srgbClr val="FFFFFF"/>
                </a:solidFill>
                <a:latin typeface="Helvetica"/>
              </a:defRPr>
            </a:pPr>
            <a:r>
              <a:t>4.9 mA playing  |  19 uA idle  |  150 mAh battery</a:t>
            </a:r>
          </a:p>
        </p:txBody>
      </p:sp>
      <p:sp>
        <p:nvSpPr>
          <p:cNvPr id="14" name="TextBox 13"/>
          <p:cNvSpPr txBox="1"/>
          <p:nvPr/>
        </p:nvSpPr>
        <p:spPr>
          <a:xfrm>
            <a:off x="502920" y="2423160"/>
            <a:ext cx="6126480" cy="182880"/>
          </a:xfrm>
          <a:prstGeom prst="rect">
            <a:avLst/>
          </a:prstGeom>
          <a:noFill/>
        </p:spPr>
        <p:txBody>
          <a:bodyPr wrap="square">
            <a:spAutoFit/>
          </a:bodyPr>
          <a:lstStyle/>
          <a:p>
            <a:pPr algn="l">
              <a:defRPr sz="1000" b="0">
                <a:solidFill>
                  <a:srgbClr val="BBBBCC"/>
                </a:solidFill>
                <a:latin typeface="Helvetica"/>
              </a:defRPr>
            </a:pPr>
            <a:r>
              <a:t>30 hrs continuous  |  10 days typical use  |  45 min charge</a:t>
            </a:r>
          </a:p>
        </p:txBody>
      </p:sp>
      <p:sp>
        <p:nvSpPr>
          <p:cNvPr id="15" name="Rounded Rectangle 14"/>
          <p:cNvSpPr/>
          <p:nvPr/>
        </p:nvSpPr>
        <p:spPr>
          <a:xfrm>
            <a:off x="365760" y="2834640"/>
            <a:ext cx="6126480" cy="777240"/>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880360"/>
            <a:ext cx="6126480" cy="182880"/>
          </a:xfrm>
          <a:prstGeom prst="rect">
            <a:avLst/>
          </a:prstGeom>
          <a:noFill/>
        </p:spPr>
        <p:txBody>
          <a:bodyPr wrap="square">
            <a:spAutoFit/>
          </a:bodyPr>
          <a:lstStyle/>
          <a:p>
            <a:pPr algn="l">
              <a:defRPr sz="1000" b="1">
                <a:solidFill>
                  <a:srgbClr val="A855F7"/>
                </a:solidFill>
                <a:latin typeface="Helvetica"/>
              </a:defRPr>
            </a:pPr>
            <a:r>
              <a:t>KEY SPECS</a:t>
            </a:r>
          </a:p>
        </p:txBody>
      </p:sp>
      <p:sp>
        <p:nvSpPr>
          <p:cNvPr id="17" name="TextBox 16"/>
          <p:cNvSpPr txBox="1"/>
          <p:nvPr/>
        </p:nvSpPr>
        <p:spPr>
          <a:xfrm>
            <a:off x="502920" y="3108960"/>
            <a:ext cx="6126480" cy="182880"/>
          </a:xfrm>
          <a:prstGeom prst="rect">
            <a:avLst/>
          </a:prstGeom>
          <a:noFill/>
        </p:spPr>
        <p:txBody>
          <a:bodyPr wrap="square">
            <a:spAutoFit/>
          </a:bodyPr>
          <a:lstStyle/>
          <a:p>
            <a:pPr algn="l">
              <a:defRPr sz="1000" b="0">
                <a:solidFill>
                  <a:srgbClr val="FFFFFF"/>
                </a:solidFill>
                <a:latin typeface="Helvetica"/>
              </a:defRPr>
            </a:pPr>
            <a:r>
              <a:t>35x25x10mm pod  |  ~25g total  |  IPX4  |  22mm standard band</a:t>
            </a:r>
          </a:p>
        </p:txBody>
      </p:sp>
      <p:sp>
        <p:nvSpPr>
          <p:cNvPr id="18" name="TextBox 17"/>
          <p:cNvSpPr txBox="1"/>
          <p:nvPr/>
        </p:nvSpPr>
        <p:spPr>
          <a:xfrm>
            <a:off x="502920" y="3337560"/>
            <a:ext cx="6126480" cy="182880"/>
          </a:xfrm>
          <a:prstGeom prst="rect">
            <a:avLst/>
          </a:prstGeom>
          <a:noFill/>
        </p:spPr>
        <p:txBody>
          <a:bodyPr wrap="square">
            <a:spAutoFit/>
          </a:bodyPr>
          <a:lstStyle/>
          <a:p>
            <a:pPr algn="l">
              <a:defRPr sz="1000" b="0">
                <a:solidFill>
                  <a:srgbClr val="BBBBCC"/>
                </a:solidFill>
                <a:latin typeface="Helvetica"/>
              </a:defRPr>
            </a:pPr>
            <a:r>
              <a:t>BLE 5.0  |  OTA (signed)  |  USB-C charge  |  $45-60 retail</a:t>
            </a:r>
          </a:p>
        </p:txBody>
      </p:sp>
      <p:sp>
        <p:nvSpPr>
          <p:cNvPr id="19" name="Rectangle 18"/>
          <p:cNvSpPr/>
          <p:nvPr/>
        </p:nvSpPr>
        <p:spPr>
          <a:xfrm>
            <a:off x="365760" y="3840480"/>
            <a:ext cx="6126480" cy="27432"/>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3931920"/>
            <a:ext cx="6126480" cy="182880"/>
          </a:xfrm>
          <a:prstGeom prst="rect">
            <a:avLst/>
          </a:prstGeom>
          <a:noFill/>
        </p:spPr>
        <p:txBody>
          <a:bodyPr wrap="square">
            <a:spAutoFit/>
          </a:bodyPr>
          <a:lstStyle/>
          <a:p>
            <a:pPr algn="l">
              <a:defRPr sz="1100" b="1">
                <a:solidFill>
                  <a:srgbClr val="FF8C00"/>
                </a:solidFill>
                <a:latin typeface="Helvetica"/>
              </a:defRPr>
            </a:pPr>
            <a:r>
              <a:t>8 OPEN ITEMS</a:t>
            </a:r>
          </a:p>
        </p:txBody>
      </p:sp>
      <p:sp>
        <p:nvSpPr>
          <p:cNvPr id="21" name="Rounded Rectangle 20"/>
          <p:cNvSpPr/>
          <p:nvPr/>
        </p:nvSpPr>
        <p:spPr>
          <a:xfrm>
            <a:off x="365760" y="4206240"/>
            <a:ext cx="6126480" cy="347472"/>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270248"/>
            <a:ext cx="457200" cy="182880"/>
          </a:xfrm>
          <a:prstGeom prst="rect">
            <a:avLst/>
          </a:prstGeom>
          <a:noFill/>
        </p:spPr>
        <p:txBody>
          <a:bodyPr wrap="square">
            <a:spAutoFit/>
          </a:bodyPr>
          <a:lstStyle/>
          <a:p>
            <a:pPr algn="l">
              <a:defRPr sz="900" b="1">
                <a:solidFill>
                  <a:srgbClr val="FF8C00"/>
                </a:solidFill>
                <a:latin typeface="Helvetica"/>
              </a:defRPr>
            </a:pPr>
            <a:r>
              <a:t>M2</a:t>
            </a:r>
          </a:p>
        </p:txBody>
      </p:sp>
      <p:sp>
        <p:nvSpPr>
          <p:cNvPr id="23" name="TextBox 22"/>
          <p:cNvSpPr txBox="1"/>
          <p:nvPr/>
        </p:nvSpPr>
        <p:spPr>
          <a:xfrm>
            <a:off x="1005840" y="4270248"/>
            <a:ext cx="5212080" cy="182880"/>
          </a:xfrm>
          <a:prstGeom prst="rect">
            <a:avLst/>
          </a:prstGeom>
          <a:noFill/>
        </p:spPr>
        <p:txBody>
          <a:bodyPr wrap="square">
            <a:spAutoFit/>
          </a:bodyPr>
          <a:lstStyle/>
          <a:p>
            <a:pPr algn="l">
              <a:defRPr sz="900" b="0">
                <a:solidFill>
                  <a:srgbClr val="F0F0F5"/>
                </a:solidFill>
                <a:latin typeface="Helvetica"/>
              </a:defRPr>
            </a:pPr>
            <a:r>
              <a:t>Haptic perceptibility test with guitarists, pianists, strings</a:t>
            </a:r>
          </a:p>
        </p:txBody>
      </p:sp>
      <p:sp>
        <p:nvSpPr>
          <p:cNvPr id="24" name="Rounded Rectangle 23"/>
          <p:cNvSpPr/>
          <p:nvPr/>
        </p:nvSpPr>
        <p:spPr>
          <a:xfrm>
            <a:off x="365760" y="4636007"/>
            <a:ext cx="6126480" cy="347472"/>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4700015"/>
            <a:ext cx="457200" cy="182880"/>
          </a:xfrm>
          <a:prstGeom prst="rect">
            <a:avLst/>
          </a:prstGeom>
          <a:noFill/>
        </p:spPr>
        <p:txBody>
          <a:bodyPr wrap="square">
            <a:spAutoFit/>
          </a:bodyPr>
          <a:lstStyle/>
          <a:p>
            <a:pPr algn="l">
              <a:defRPr sz="900" b="1">
                <a:solidFill>
                  <a:srgbClr val="FF8C00"/>
                </a:solidFill>
                <a:latin typeface="Helvetica"/>
              </a:defRPr>
            </a:pPr>
            <a:r>
              <a:t>M2</a:t>
            </a:r>
          </a:p>
        </p:txBody>
      </p:sp>
      <p:sp>
        <p:nvSpPr>
          <p:cNvPr id="26" name="TextBox 25"/>
          <p:cNvSpPr txBox="1"/>
          <p:nvPr/>
        </p:nvSpPr>
        <p:spPr>
          <a:xfrm>
            <a:off x="1005840" y="4700015"/>
            <a:ext cx="5212080" cy="182880"/>
          </a:xfrm>
          <a:prstGeom prst="rect">
            <a:avLst/>
          </a:prstGeom>
          <a:noFill/>
        </p:spPr>
        <p:txBody>
          <a:bodyPr wrap="square">
            <a:spAutoFit/>
          </a:bodyPr>
          <a:lstStyle/>
          <a:p>
            <a:pPr algn="l">
              <a:defRPr sz="900" b="0">
                <a:solidFill>
                  <a:srgbClr val="F0F0F5"/>
                </a:solidFill>
                <a:latin typeface="Helvetica"/>
              </a:defRPr>
            </a:pPr>
            <a:r>
              <a:t>DRV2605L waveform sequence timing precision</a:t>
            </a:r>
          </a:p>
        </p:txBody>
      </p:sp>
      <p:sp>
        <p:nvSpPr>
          <p:cNvPr id="27" name="Rounded Rectangle 26"/>
          <p:cNvSpPr/>
          <p:nvPr/>
        </p:nvSpPr>
        <p:spPr>
          <a:xfrm>
            <a:off x="365760" y="5065775"/>
            <a:ext cx="6126480" cy="347472"/>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5129783"/>
            <a:ext cx="457200" cy="182880"/>
          </a:xfrm>
          <a:prstGeom prst="rect">
            <a:avLst/>
          </a:prstGeom>
          <a:noFill/>
        </p:spPr>
        <p:txBody>
          <a:bodyPr wrap="square">
            <a:spAutoFit/>
          </a:bodyPr>
          <a:lstStyle/>
          <a:p>
            <a:pPr algn="l">
              <a:defRPr sz="900" b="1">
                <a:solidFill>
                  <a:srgbClr val="FF8C00"/>
                </a:solidFill>
                <a:latin typeface="Helvetica"/>
              </a:defRPr>
            </a:pPr>
            <a:r>
              <a:t>M2</a:t>
            </a:r>
          </a:p>
        </p:txBody>
      </p:sp>
      <p:sp>
        <p:nvSpPr>
          <p:cNvPr id="29" name="TextBox 28"/>
          <p:cNvSpPr txBox="1"/>
          <p:nvPr/>
        </p:nvSpPr>
        <p:spPr>
          <a:xfrm>
            <a:off x="1005840" y="5129783"/>
            <a:ext cx="5212080" cy="182880"/>
          </a:xfrm>
          <a:prstGeom prst="rect">
            <a:avLst/>
          </a:prstGeom>
          <a:noFill/>
        </p:spPr>
        <p:txBody>
          <a:bodyPr wrap="square">
            <a:spAutoFit/>
          </a:bodyPr>
          <a:lstStyle/>
          <a:p>
            <a:pPr algn="l">
              <a:defRPr sz="900" b="0">
                <a:solidFill>
                  <a:srgbClr val="F0F0F5"/>
                </a:solidFill>
                <a:latin typeface="Helvetica"/>
              </a:defRPr>
            </a:pPr>
            <a:r>
              <a:t>Dual-pulse downbeat perception at 120/160/200 BPM</a:t>
            </a:r>
          </a:p>
        </p:txBody>
      </p:sp>
      <p:sp>
        <p:nvSpPr>
          <p:cNvPr id="30" name="Rounded Rectangle 29"/>
          <p:cNvSpPr/>
          <p:nvPr/>
        </p:nvSpPr>
        <p:spPr>
          <a:xfrm>
            <a:off x="365760" y="5495544"/>
            <a:ext cx="6126480" cy="347472"/>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2920" y="5559552"/>
            <a:ext cx="457200" cy="182880"/>
          </a:xfrm>
          <a:prstGeom prst="rect">
            <a:avLst/>
          </a:prstGeom>
          <a:noFill/>
        </p:spPr>
        <p:txBody>
          <a:bodyPr wrap="square">
            <a:spAutoFit/>
          </a:bodyPr>
          <a:lstStyle/>
          <a:p>
            <a:pPr algn="l">
              <a:defRPr sz="900" b="1">
                <a:solidFill>
                  <a:srgbClr val="FF8C00"/>
                </a:solidFill>
                <a:latin typeface="Helvetica"/>
              </a:defRPr>
            </a:pPr>
            <a:r>
              <a:t>M3</a:t>
            </a:r>
          </a:p>
        </p:txBody>
      </p:sp>
      <p:sp>
        <p:nvSpPr>
          <p:cNvPr id="32" name="TextBox 31"/>
          <p:cNvSpPr txBox="1"/>
          <p:nvPr/>
        </p:nvSpPr>
        <p:spPr>
          <a:xfrm>
            <a:off x="1005840" y="5559552"/>
            <a:ext cx="5212080" cy="182880"/>
          </a:xfrm>
          <a:prstGeom prst="rect">
            <a:avLst/>
          </a:prstGeom>
          <a:noFill/>
        </p:spPr>
        <p:txBody>
          <a:bodyPr wrap="square">
            <a:spAutoFit/>
          </a:bodyPr>
          <a:lstStyle/>
          <a:p>
            <a:pPr algn="l">
              <a:defRPr sz="900" b="0">
                <a:solidFill>
                  <a:srgbClr val="F0F0F5"/>
                </a:solidFill>
                <a:latin typeface="Helvetica"/>
              </a:defRPr>
            </a:pPr>
            <a:r>
              <a:t>Tap gesture false-trigger rate across instruments</a:t>
            </a:r>
          </a:p>
        </p:txBody>
      </p:sp>
      <p:sp>
        <p:nvSpPr>
          <p:cNvPr id="33" name="Rounded Rectangle 32"/>
          <p:cNvSpPr/>
          <p:nvPr/>
        </p:nvSpPr>
        <p:spPr>
          <a:xfrm>
            <a:off x="365760" y="5925312"/>
            <a:ext cx="6126480" cy="347472"/>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02920" y="5989320"/>
            <a:ext cx="457200" cy="182880"/>
          </a:xfrm>
          <a:prstGeom prst="rect">
            <a:avLst/>
          </a:prstGeom>
          <a:noFill/>
        </p:spPr>
        <p:txBody>
          <a:bodyPr wrap="square">
            <a:spAutoFit/>
          </a:bodyPr>
          <a:lstStyle/>
          <a:p>
            <a:pPr algn="l">
              <a:defRPr sz="900" b="1">
                <a:solidFill>
                  <a:srgbClr val="FF8C00"/>
                </a:solidFill>
                <a:latin typeface="Helvetica"/>
              </a:defRPr>
            </a:pPr>
            <a:r>
              <a:t>M3</a:t>
            </a:r>
          </a:p>
        </p:txBody>
      </p:sp>
      <p:sp>
        <p:nvSpPr>
          <p:cNvPr id="35" name="TextBox 34"/>
          <p:cNvSpPr txBox="1"/>
          <p:nvPr/>
        </p:nvSpPr>
        <p:spPr>
          <a:xfrm>
            <a:off x="1005840" y="5989320"/>
            <a:ext cx="5212080" cy="182880"/>
          </a:xfrm>
          <a:prstGeom prst="rect">
            <a:avLst/>
          </a:prstGeom>
          <a:noFill/>
        </p:spPr>
        <p:txBody>
          <a:bodyPr wrap="square">
            <a:spAutoFit/>
          </a:bodyPr>
          <a:lstStyle/>
          <a:p>
            <a:pPr algn="l">
              <a:defRPr sz="900" b="0">
                <a:solidFill>
                  <a:srgbClr val="F0F0F5"/>
                </a:solidFill>
                <a:latin typeface="Helvetica"/>
              </a:defRPr>
            </a:pPr>
            <a:r>
              <a:t>Wristband comfort during 2+ hour sessions</a:t>
            </a:r>
          </a:p>
        </p:txBody>
      </p:sp>
      <p:sp>
        <p:nvSpPr>
          <p:cNvPr id="36" name="Rounded Rectangle 35"/>
          <p:cNvSpPr/>
          <p:nvPr/>
        </p:nvSpPr>
        <p:spPr>
          <a:xfrm>
            <a:off x="365760" y="6355079"/>
            <a:ext cx="6126480" cy="347472"/>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02920" y="6419087"/>
            <a:ext cx="457200" cy="182880"/>
          </a:xfrm>
          <a:prstGeom prst="rect">
            <a:avLst/>
          </a:prstGeom>
          <a:noFill/>
        </p:spPr>
        <p:txBody>
          <a:bodyPr wrap="square">
            <a:spAutoFit/>
          </a:bodyPr>
          <a:lstStyle/>
          <a:p>
            <a:pPr algn="l">
              <a:defRPr sz="900" b="1">
                <a:solidFill>
                  <a:srgbClr val="FF8C00"/>
                </a:solidFill>
                <a:latin typeface="Helvetica"/>
              </a:defRPr>
            </a:pPr>
            <a:r>
              <a:t>M4</a:t>
            </a:r>
          </a:p>
        </p:txBody>
      </p:sp>
      <p:sp>
        <p:nvSpPr>
          <p:cNvPr id="38" name="TextBox 37"/>
          <p:cNvSpPr txBox="1"/>
          <p:nvPr/>
        </p:nvSpPr>
        <p:spPr>
          <a:xfrm>
            <a:off x="1005840" y="6419087"/>
            <a:ext cx="5212080" cy="182880"/>
          </a:xfrm>
          <a:prstGeom prst="rect">
            <a:avLst/>
          </a:prstGeom>
          <a:noFill/>
        </p:spPr>
        <p:txBody>
          <a:bodyPr wrap="square">
            <a:spAutoFit/>
          </a:bodyPr>
          <a:lstStyle/>
          <a:p>
            <a:pPr algn="l">
              <a:defRPr sz="900" b="0">
                <a:solidFill>
                  <a:srgbClr val="F0F0F5"/>
                </a:solidFill>
                <a:latin typeface="Helvetica"/>
              </a:defRPr>
            </a:pPr>
            <a:r>
              <a:t>IPX4 seal durability (USB-C flap, 500+ cycles)</a:t>
            </a:r>
          </a:p>
        </p:txBody>
      </p:sp>
      <p:sp>
        <p:nvSpPr>
          <p:cNvPr id="39" name="Rounded Rectangle 38"/>
          <p:cNvSpPr/>
          <p:nvPr/>
        </p:nvSpPr>
        <p:spPr>
          <a:xfrm>
            <a:off x="365760" y="6784848"/>
            <a:ext cx="6126480" cy="347472"/>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02920" y="6848856"/>
            <a:ext cx="457200" cy="182880"/>
          </a:xfrm>
          <a:prstGeom prst="rect">
            <a:avLst/>
          </a:prstGeom>
          <a:noFill/>
        </p:spPr>
        <p:txBody>
          <a:bodyPr wrap="square">
            <a:spAutoFit/>
          </a:bodyPr>
          <a:lstStyle/>
          <a:p>
            <a:pPr algn="l">
              <a:defRPr sz="900" b="1">
                <a:solidFill>
                  <a:srgbClr val="FF8C00"/>
                </a:solidFill>
                <a:latin typeface="Helvetica"/>
              </a:defRPr>
            </a:pPr>
            <a:r>
              <a:t>M1</a:t>
            </a:r>
          </a:p>
        </p:txBody>
      </p:sp>
      <p:sp>
        <p:nvSpPr>
          <p:cNvPr id="41" name="TextBox 40"/>
          <p:cNvSpPr txBox="1"/>
          <p:nvPr/>
        </p:nvSpPr>
        <p:spPr>
          <a:xfrm>
            <a:off x="1005840" y="6848856"/>
            <a:ext cx="5212080" cy="182880"/>
          </a:xfrm>
          <a:prstGeom prst="rect">
            <a:avLst/>
          </a:prstGeom>
          <a:noFill/>
        </p:spPr>
        <p:txBody>
          <a:bodyPr wrap="square">
            <a:spAutoFit/>
          </a:bodyPr>
          <a:lstStyle/>
          <a:p>
            <a:pPr algn="l">
              <a:defRPr sz="900" b="0">
                <a:solidFill>
                  <a:srgbClr val="F0F0F5"/>
                </a:solidFill>
                <a:latin typeface="Helvetica"/>
              </a:defRPr>
            </a:pPr>
            <a:r>
              <a:t>BOM volume validation (5k min for $15 target)</a:t>
            </a:r>
          </a:p>
        </p:txBody>
      </p:sp>
      <p:sp>
        <p:nvSpPr>
          <p:cNvPr id="42" name="Rounded Rectangle 41"/>
          <p:cNvSpPr/>
          <p:nvPr/>
        </p:nvSpPr>
        <p:spPr>
          <a:xfrm>
            <a:off x="365760" y="7214616"/>
            <a:ext cx="6126480" cy="347472"/>
          </a:xfrm>
          <a:prstGeom prst="roundRect">
            <a:avLst/>
          </a:prstGeom>
          <a:solidFill>
            <a:srgbClr val="1E1E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7278624"/>
            <a:ext cx="457200" cy="182880"/>
          </a:xfrm>
          <a:prstGeom prst="rect">
            <a:avLst/>
          </a:prstGeom>
          <a:noFill/>
        </p:spPr>
        <p:txBody>
          <a:bodyPr wrap="square">
            <a:spAutoFit/>
          </a:bodyPr>
          <a:lstStyle/>
          <a:p>
            <a:pPr algn="l">
              <a:defRPr sz="900" b="1">
                <a:solidFill>
                  <a:srgbClr val="FF8C00"/>
                </a:solidFill>
                <a:latin typeface="Helvetica"/>
              </a:defRPr>
            </a:pPr>
            <a:r>
              <a:t>M3</a:t>
            </a:r>
          </a:p>
        </p:txBody>
      </p:sp>
      <p:sp>
        <p:nvSpPr>
          <p:cNvPr id="44" name="TextBox 43"/>
          <p:cNvSpPr txBox="1"/>
          <p:nvPr/>
        </p:nvSpPr>
        <p:spPr>
          <a:xfrm>
            <a:off x="1005840" y="7278624"/>
            <a:ext cx="5212080" cy="182880"/>
          </a:xfrm>
          <a:prstGeom prst="rect">
            <a:avLst/>
          </a:prstGeom>
          <a:noFill/>
        </p:spPr>
        <p:txBody>
          <a:bodyPr wrap="square">
            <a:spAutoFit/>
          </a:bodyPr>
          <a:lstStyle/>
          <a:p>
            <a:pPr algn="l">
              <a:defRPr sz="900" b="0">
                <a:solidFill>
                  <a:srgbClr val="F0F0F5"/>
                </a:solidFill>
                <a:latin typeface="Helvetica"/>
              </a:defRPr>
            </a:pPr>
            <a:r>
              <a:t>Band attachment strength during playing</a:t>
            </a:r>
          </a:p>
        </p:txBody>
      </p:sp>
      <p:sp>
        <p:nvSpPr>
          <p:cNvPr id="45" name="Rounded Rectangle 44"/>
          <p:cNvSpPr/>
          <p:nvPr/>
        </p:nvSpPr>
        <p:spPr>
          <a:xfrm>
            <a:off x="365760" y="7726679"/>
            <a:ext cx="6126480" cy="548640"/>
          </a:xfrm>
          <a:prstGeom prst="roundRect">
            <a:avLst/>
          </a:prstGeom>
          <a:solidFill>
            <a:srgbClr val="2222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02920" y="7772400"/>
            <a:ext cx="5852160" cy="457200"/>
          </a:xfrm>
          <a:prstGeom prst="rect">
            <a:avLst/>
          </a:prstGeom>
          <a:noFill/>
        </p:spPr>
        <p:txBody>
          <a:bodyPr wrap="square">
            <a:spAutoFit/>
          </a:bodyPr>
          <a:lstStyle/>
          <a:p>
            <a:pPr algn="l">
              <a:defRPr sz="1000" b="0">
                <a:solidFill>
                  <a:srgbClr val="FFFFFF"/>
                </a:solidFill>
                <a:latin typeface="Helvetica"/>
              </a:defRPr>
            </a:pPr>
            <a:r>
              <a:t>Next step: prototype the haptic pod on an nRF52 devkit with a DRV2605L breakout board. Put it on wrists. Play music. Validate the three hardest problems before committing to PCB.</a:t>
            </a:r>
          </a:p>
        </p:txBody>
      </p:sp>
      <p:sp>
        <p:nvSpPr>
          <p:cNvPr id="47" name="TextBox 46"/>
          <p:cNvSpPr txBox="1"/>
          <p:nvPr/>
        </p:nvSpPr>
        <p:spPr>
          <a:xfrm>
            <a:off x="6126480" y="8298180"/>
            <a:ext cx="548640" cy="228600"/>
          </a:xfrm>
          <a:prstGeom prst="rect">
            <a:avLst/>
          </a:prstGeom>
          <a:noFill/>
        </p:spPr>
        <p:txBody>
          <a:bodyPr wrap="square">
            <a:spAutoFit/>
          </a:bodyPr>
          <a:lstStyle/>
          <a:p>
            <a:pPr algn="r">
              <a:defRPr sz="800" b="0">
                <a:solidFill>
                  <a:srgbClr val="BBBBCC"/>
                </a:solidFill>
                <a:latin typeface="Helvetica"/>
              </a:defRPr>
            </a:pPr>
            <a:r>
              <a:t>8/8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