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Calibri"/>
              </a:defRPr>
            </a:pPr>
            <a:r>
              <a:t>AirSense</a:t>
            </a:r>
          </a:p>
          <a:p>
            <a:pPr algn="l">
              <a:spcBef>
                <a:spcPts val="1200"/>
              </a:spcBef>
              <a:spcAft>
                <a:spcPts val="200"/>
              </a:spcAft>
              <a:defRPr sz="2600" b="0">
                <a:solidFill>
                  <a:srgbClr val="00BFA5"/>
                </a:solidFill>
                <a:latin typeface="Calibri"/>
              </a:defRPr>
            </a:pPr>
            <a:r>
              <a:t>Indoor Environment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BBBCC"/>
                </a:solidFill>
                <a:latin typeface="Calibri"/>
              </a:defRPr>
            </a:pPr>
            <a:r>
              <a:t>Room-level CO2, temperature, humidity, and particulate matter.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800" b="0">
                <a:solidFill>
                  <a:srgbClr val="BBBBCC"/>
                </a:solidFill>
                <a:latin typeface="Calibri"/>
              </a:defRPr>
            </a:pPr>
            <a:r>
              <a:t>Battery-powered BLE sensor nodes. Per-floor gateways. Cloud dashboard.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800" b="0">
                <a:solidFill>
                  <a:srgbClr val="FF8C00"/>
                </a:solidFill>
                <a:latin typeface="Calibri"/>
              </a:defRPr>
            </a:pPr>
            <a:r>
              <a:t>Replace complaint-driven HVAC management with data.</a:t>
            </a:r>
          </a:p>
        </p:txBody>
      </p:sp>
      <p:pic>
        <p:nvPicPr>
          <p:cNvPr id="5" name="Picture 4" descr="System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914400"/>
            <a:ext cx="4754880" cy="47548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943600"/>
            <a:ext cx="12191695" cy="4572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Product Overview  |  Concept Stage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Three-Tier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3474720" cy="54864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17904"/>
            <a:ext cx="3474720" cy="4114800"/>
          </a:xfrm>
          <a:prstGeom prst="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FA5"/>
                </a:solidFill>
                <a:latin typeface="Calibri"/>
              </a:defRPr>
            </a:pPr>
            <a:r>
              <a:t>SENSOR NODE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BBBCC"/>
                </a:solidFill>
                <a:latin typeface="Calibri"/>
              </a:defRPr>
            </a:pPr>
            <a:r>
              <a:t>1 per room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  <a:latin typeface="Calibri"/>
              </a:defRPr>
            </a:pPr>
            <a:r>
              <a:t>nRF52840 SoC (BLE 5.3)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  <a:latin typeface="Calibri"/>
              </a:defRPr>
            </a:pPr>
            <a:r>
              <a:t>CO2 (SCD41) + T/H (SHT40) + PM (PMSA003I)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20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  <a:latin typeface="Calibri"/>
              </a:defRPr>
            </a:pPr>
            <a:r>
              <a:t>2x AA batteries, &gt;12 month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77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  <a:latin typeface="Calibri"/>
              </a:defRPr>
            </a:pPr>
            <a:r>
              <a:t>Deep sleep 99% of the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434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  <a:latin typeface="Calibri"/>
              </a:defRPr>
            </a:pPr>
            <a:r>
              <a:t>BLE advertisement every 5 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1463040"/>
            <a:ext cx="3474720" cy="54864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1517904"/>
            <a:ext cx="3474720" cy="4114800"/>
          </a:xfrm>
          <a:prstGeom prst="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79" y="1691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BF5"/>
                </a:solidFill>
                <a:latin typeface="Calibri"/>
              </a:defRPr>
            </a:pPr>
            <a:r>
              <a:t>GATEWAY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79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BBBCC"/>
                </a:solidFill>
                <a:latin typeface="Calibri"/>
              </a:defRPr>
            </a:pPr>
            <a:r>
              <a:t>1 per floor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2606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  <a:latin typeface="Calibri"/>
              </a:defRPr>
            </a:pPr>
            <a:r>
              <a:t>ESP32-S3 + Ethernet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79" y="3063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  <a:latin typeface="Calibri"/>
              </a:defRPr>
            </a:pPr>
            <a:r>
              <a:t>Passively scans BLE advertisements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3520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  <a:latin typeface="Calibri"/>
              </a:defRPr>
            </a:pPr>
            <a:r>
              <a:t>Aggregates data from up to 50 nodes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79" y="3977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  <a:latin typeface="Calibri"/>
              </a:defRPr>
            </a:pPr>
            <a:r>
              <a:t>Forwards to cloud via MQTT/TLS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79" y="4434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  <a:latin typeface="Calibri"/>
              </a:defRPr>
            </a:pPr>
            <a:r>
              <a:t>Mains-powered, always 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18" y="1463040"/>
            <a:ext cx="3474720" cy="54864"/>
          </a:xfrm>
          <a:prstGeom prst="rect">
            <a:avLst/>
          </a:prstGeom>
          <a:solidFill>
            <a:srgbClr val="9B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18" y="1517904"/>
            <a:ext cx="3474720" cy="4114800"/>
          </a:xfrm>
          <a:prstGeom prst="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18" y="1691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B6DFF"/>
                </a:solidFill>
                <a:latin typeface="Calibri"/>
              </a:defRPr>
            </a:pPr>
            <a:r>
              <a:t>CLOUD BACKEND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18" y="21488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BBBCC"/>
                </a:solidFill>
                <a:latin typeface="Calibri"/>
              </a:defRPr>
            </a:pPr>
            <a:r>
              <a:t>Centralized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18" y="2606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  <a:latin typeface="Calibri"/>
              </a:defRPr>
            </a:pPr>
            <a:r>
              <a:t>MQTT ingestion (AWS IoT Core)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8" y="3063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  <a:latin typeface="Calibri"/>
              </a:defRPr>
            </a:pPr>
            <a:r>
              <a:t>TimescaleDB time-series storage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8" y="3520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  <a:latin typeface="Calibri"/>
              </a:defRPr>
            </a:pPr>
            <a:r>
              <a:t>REST API + web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8" y="3977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  <a:latin typeface="Calibri"/>
              </a:defRPr>
            </a:pPr>
            <a:r>
              <a:t>Alert engine (CO2, temp, device health)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18" y="4434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5"/>
                </a:solidFill>
                <a:latin typeface="Calibri"/>
              </a:defRPr>
            </a:pPr>
            <a:r>
              <a:t>OTA firmware deployment to fleet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23360" y="3474720"/>
            <a:ext cx="274320" cy="36576"/>
          </a:xfrm>
          <a:prstGeom prst="rect">
            <a:avLst/>
          </a:prstGeom>
          <a:solidFill>
            <a:srgbClr val="BB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0" y="31546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BBBCC"/>
                </a:solidFill>
                <a:latin typeface="Calibri"/>
              </a:defRPr>
            </a:pPr>
            <a:r>
              <a:t>BLE 5.3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399" y="3474720"/>
            <a:ext cx="274320" cy="36576"/>
          </a:xfrm>
          <a:prstGeom prst="rect">
            <a:avLst/>
          </a:prstGeom>
          <a:solidFill>
            <a:srgbClr val="BB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59" y="31546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BBBCC"/>
                </a:solidFill>
                <a:latin typeface="Calibri"/>
              </a:defRPr>
            </a:pPr>
            <a:r>
              <a:t>MQTT/TLS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Sensor node (BLE adv, one-way) --&gt; Gateway (passive scan, Ethernet) --&gt; Cloud (MQTT) --&gt; Dashboard (REST API)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Inside the Hardware</a:t>
            </a:r>
          </a:p>
        </p:txBody>
      </p:sp>
      <p:pic>
        <p:nvPicPr>
          <p:cNvPr id="4" name="Picture 3" descr="Cross-Section — Sensor N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029200" cy="5029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1051560"/>
            <a:ext cx="5029200" cy="32004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7899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SENSOR NODE  (1 per room)</a:t>
            </a:r>
          </a:p>
        </p:txBody>
      </p:sp>
      <p:pic>
        <p:nvPicPr>
          <p:cNvPr id="7" name="Picture 6" descr="Cross-Section — Gatew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371600"/>
            <a:ext cx="5760720" cy="35661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943600" y="1051560"/>
            <a:ext cx="5760720" cy="320040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80760" y="10789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GATEWAY  (1 per floor)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5120640"/>
            <a:ext cx="5760720" cy="292608"/>
          </a:xfrm>
          <a:prstGeom prst="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515721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BF5"/>
                </a:solidFill>
                <a:latin typeface="Calibri"/>
              </a:defRPr>
            </a:pPr>
            <a:r>
              <a:t>MCU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5157216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0F0F5"/>
                </a:solidFill>
                <a:latin typeface="Calibri"/>
              </a:defRPr>
            </a:pPr>
            <a:r>
              <a:t>ESP32-S3 (BLE + WiFi + Ethernet MAC)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5468112"/>
            <a:ext cx="5760720" cy="292608"/>
          </a:xfrm>
          <a:prstGeom prst="rect">
            <a:avLst/>
          </a:prstGeom>
          <a:solidFill>
            <a:srgbClr val="14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5504688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BF5"/>
                </a:solidFill>
                <a:latin typeface="Calibri"/>
              </a:defRPr>
            </a:pPr>
            <a:r>
              <a:t>Uplink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5504688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0F0F5"/>
                </a:solidFill>
                <a:latin typeface="Calibri"/>
              </a:defRPr>
            </a:pPr>
            <a:r>
              <a:t>100 Mbps Ethernet, MQTT over TLS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5815584"/>
            <a:ext cx="5760720" cy="292608"/>
          </a:xfrm>
          <a:prstGeom prst="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585216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BF5"/>
                </a:solidFill>
                <a:latin typeface="Calibri"/>
              </a:defRPr>
            </a:pPr>
            <a:r>
              <a:t>Power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5852160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0F0F5"/>
                </a:solidFill>
                <a:latin typeface="Calibri"/>
              </a:defRPr>
            </a:pPr>
            <a:r>
              <a:t>Mains-powered via USB-C, always 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6163056"/>
            <a:ext cx="5760720" cy="292608"/>
          </a:xfrm>
          <a:prstGeom prst="rect">
            <a:avLst/>
          </a:prstGeom>
          <a:solidFill>
            <a:srgbClr val="14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61996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9BF5"/>
                </a:solidFill>
                <a:latin typeface="Calibri"/>
              </a:defRPr>
            </a:pPr>
            <a:r>
              <a:t>Capacity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6199632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0F0F5"/>
                </a:solidFill>
                <a:latin typeface="Calibri"/>
              </a:defRPr>
            </a:pPr>
            <a:r>
              <a:t>Scans up to 50 BLE sensor nodes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Sensor Node — Components &amp; Power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303520" cy="4572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SENSORS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303520" cy="749808"/>
          </a:xfrm>
          <a:prstGeom prst="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73152" cy="54864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SCD41 (Sensirion)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057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BFA5"/>
                </a:solidFill>
                <a:latin typeface="Calibri"/>
              </a:defRPr>
            </a:pPr>
            <a:r>
              <a:t>$8-12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31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CO2 ppm + temp + humidity  |  +/-40 ppm accuracy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880360"/>
            <a:ext cx="5303520" cy="749808"/>
          </a:xfrm>
          <a:prstGeom prst="rect">
            <a:avLst/>
          </a:prstGeom>
          <a:solidFill>
            <a:srgbClr val="14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971800"/>
            <a:ext cx="73152" cy="54864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926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SHT40 (Sensirion)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926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BFA5"/>
                </a:solidFill>
                <a:latin typeface="Calibri"/>
              </a:defRPr>
            </a:pPr>
            <a:r>
              <a:t>$1-2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Temperature + humidity  |  +/-0.2C, +/-1.8% RH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749040"/>
            <a:ext cx="5303520" cy="749808"/>
          </a:xfrm>
          <a:prstGeom prst="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840480"/>
            <a:ext cx="73152" cy="5486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794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PMSA003I (Plantower)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794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8C00"/>
                </a:solidFill>
                <a:latin typeface="Calibri"/>
              </a:defRPr>
            </a:pPr>
            <a:r>
              <a:t>$7-9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069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PM1.0, PM2.5, PM10  |  +/-10 ug/m3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1371600"/>
            <a:ext cx="484632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14173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POWER ARCHITECTURE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2011680"/>
            <a:ext cx="4846320" cy="475488"/>
          </a:xfrm>
          <a:prstGeom prst="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2103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t>Source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2x AA lithium (Energizer L91)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2587752"/>
            <a:ext cx="4846320" cy="475488"/>
          </a:xfrm>
          <a:prstGeom prst="rect">
            <a:avLst/>
          </a:prstGeom>
          <a:solidFill>
            <a:srgbClr val="14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26791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t>Capacity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26791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3000 mAh, 6V input -&gt; TPS62740 -&gt; 3.3V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3163824"/>
            <a:ext cx="4846320" cy="475488"/>
          </a:xfrm>
          <a:prstGeom prst="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12280" y="32552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t>Sleep current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32552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~2 uA (MCU + regulator quiescent)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3739896"/>
            <a:ext cx="4846320" cy="475488"/>
          </a:xfrm>
          <a:prstGeom prst="rect">
            <a:avLst/>
          </a:prstGeom>
          <a:solidFill>
            <a:srgbClr val="14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12280" y="383133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t>Sense cycle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38313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5s active every 5 min = 99.7% sleeping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4315968"/>
            <a:ext cx="4846320" cy="475488"/>
          </a:xfrm>
          <a:prstGeom prst="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12280" y="440740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t>Target life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44074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&gt;12 months (PM sensor is the bottleneck)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75120" y="4892040"/>
            <a:ext cx="4846320" cy="475488"/>
          </a:xfrm>
          <a:prstGeom prst="rect">
            <a:avLst/>
          </a:prstGeom>
          <a:solidFill>
            <a:srgbClr val="14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12280" y="49834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t>Battery issue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4983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PM sensor @ 25 mA eats 417 uA avg alone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4937760"/>
            <a:ext cx="10789920" cy="457200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98348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FIRMWARE (Zephyr RTOS on nRF52840)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5532120"/>
            <a:ext cx="2066543" cy="1005840"/>
          </a:xfrm>
          <a:prstGeom prst="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557784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BF5"/>
                </a:solidFill>
                <a:latin typeface="Calibri"/>
              </a:defRPr>
            </a:pPr>
            <a:r>
              <a:t>Sensor Mgr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585216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CC"/>
                </a:solidFill>
                <a:latin typeface="Calibri"/>
              </a:defRPr>
            </a:pPr>
            <a:r>
              <a:t>Read SCD41, SHT40, PMSA003I</a:t>
            </a:r>
            <a:br/>
            <a:r>
              <a:t>on schedule. Power-gate PM sensor.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80944" y="5532120"/>
            <a:ext cx="2066543" cy="1005840"/>
          </a:xfrm>
          <a:prstGeom prst="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72384" y="557784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BF5"/>
                </a:solidFill>
                <a:latin typeface="Calibri"/>
              </a:defRPr>
            </a:pPr>
            <a:r>
              <a:t>BLE Advertiser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72384" y="585216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CC"/>
                </a:solidFill>
                <a:latin typeface="Calibri"/>
              </a:defRPr>
            </a:pPr>
            <a:r>
              <a:t>Encode readings into 20-byte</a:t>
            </a:r>
            <a:br/>
            <a:r>
              <a:t>extended advertisement payload.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30368" y="5532120"/>
            <a:ext cx="2066543" cy="1005840"/>
          </a:xfrm>
          <a:prstGeom prst="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21808" y="557784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BF5"/>
                </a:solidFill>
                <a:latin typeface="Calibri"/>
              </a:defRPr>
            </a:pPr>
            <a:r>
              <a:t>Power Mgr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21808" y="585216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CC"/>
                </a:solidFill>
                <a:latin typeface="Calibri"/>
              </a:defRPr>
            </a:pPr>
            <a:r>
              <a:t>Deep sleep entry/exit,</a:t>
            </a:r>
            <a:br/>
            <a:r>
              <a:t>battery ADC monitoring.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79792" y="5532120"/>
            <a:ext cx="2066543" cy="1005840"/>
          </a:xfrm>
          <a:prstGeom prst="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71232" y="557784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BF5"/>
                </a:solidFill>
                <a:latin typeface="Calibri"/>
              </a:defRPr>
            </a:pPr>
            <a:r>
              <a:t>OTA Mgr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71232" y="585216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CC"/>
                </a:solidFill>
                <a:latin typeface="Calibri"/>
              </a:defRPr>
            </a:pPr>
            <a:r>
              <a:t>BLE DFU via MCUboot.</a:t>
            </a:r>
            <a:br/>
            <a:r>
              <a:t>A/B partitioning, rollback on failure.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729216" y="5532120"/>
            <a:ext cx="2066543" cy="1005840"/>
          </a:xfrm>
          <a:prstGeom prst="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820656" y="557784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BF5"/>
                </a:solidFill>
                <a:latin typeface="Calibri"/>
              </a:defRPr>
            </a:pPr>
            <a:r>
              <a:t>Config Mgr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20656" y="5852160"/>
            <a:ext cx="18745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BBBCC"/>
                </a:solidFill>
                <a:latin typeface="Calibri"/>
              </a:defRPr>
            </a:pPr>
            <a:r>
              <a:t>Sample interval, PM enable/disable.</a:t>
            </a:r>
            <a:br/>
            <a:r>
              <a:t>BLE write from gateway.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Constraints &amp; Cost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30352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HARD CONSTRAINTS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303520" cy="576072"/>
          </a:xfrm>
          <a:prstGeom prst="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Calibri"/>
              </a:defRPr>
            </a:pPr>
            <a:r>
              <a:t>Battery life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&gt;12 months on 2x AA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1343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Mount and forget. No wiring, no charging.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97480"/>
            <a:ext cx="5303520" cy="576072"/>
          </a:xfrm>
          <a:prstGeom prst="rect">
            <a:avLst/>
          </a:prstGeom>
          <a:solidFill>
            <a:srgbClr val="14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Calibri"/>
              </a:defRPr>
            </a:pPr>
            <a:r>
              <a:t>Node BOM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&lt;$35 at 1k units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9923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50-200 nodes per building -- cost must scale.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383280"/>
            <a:ext cx="5303520" cy="576072"/>
          </a:xfrm>
          <a:prstGeom prst="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Calibri"/>
              </a:defRPr>
            </a:pPr>
            <a:r>
              <a:t>Gateway BOM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290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&lt;$40 at 1k units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8503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1 per floor. Justifies itself vs. WiFi.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069080"/>
            <a:ext cx="5303520" cy="576072"/>
          </a:xfrm>
          <a:prstGeom prst="rect">
            <a:avLst/>
          </a:prstGeom>
          <a:solidFill>
            <a:srgbClr val="14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114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Calibri"/>
              </a:defRPr>
            </a:pPr>
            <a:r>
              <a:t>CO2 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14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+/-50 ppm + 5%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7083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Facility managers make HVAC decisions from this.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754880"/>
            <a:ext cx="5303520" cy="576072"/>
          </a:xfrm>
          <a:prstGeom prst="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00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Calibri"/>
              </a:defRPr>
            </a:pPr>
            <a:r>
              <a:t>Certification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006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FCC, CE, 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05663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BLE = intentional radiator. All target markets.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440680"/>
            <a:ext cx="5303520" cy="576072"/>
          </a:xfrm>
          <a:prstGeom prst="rect">
            <a:avLst/>
          </a:prstGeom>
          <a:solidFill>
            <a:srgbClr val="14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486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Calibri"/>
              </a:defRPr>
            </a:pPr>
            <a:r>
              <a:t>Density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4864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50 nodes per gateway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74243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BLE scanning must handle without packet loss.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0" y="1371600"/>
            <a:ext cx="4846320" cy="4572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14173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SENSOR NODE BOM (1k units)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1965960"/>
            <a:ext cx="4846320" cy="256032"/>
          </a:xfrm>
          <a:prstGeom prst="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12280" y="1984248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0F0F5"/>
                </a:solidFill>
                <a:latin typeface="Calibri"/>
              </a:defRPr>
            </a:pPr>
            <a:r>
              <a:t>nRF52840 SoC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198424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$4.50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2286000"/>
            <a:ext cx="4846320" cy="256032"/>
          </a:xfrm>
          <a:prstGeom prst="rect">
            <a:avLst/>
          </a:prstGeom>
          <a:solidFill>
            <a:srgbClr val="14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12280" y="2304288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0F0F5"/>
                </a:solidFill>
                <a:latin typeface="Calibri"/>
              </a:defRPr>
            </a:pPr>
            <a:r>
              <a:t>SCD41 CO2 sensor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230428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$10.00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75120" y="2606040"/>
            <a:ext cx="4846320" cy="256032"/>
          </a:xfrm>
          <a:prstGeom prst="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12280" y="2624328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0F0F5"/>
                </a:solidFill>
                <a:latin typeface="Calibri"/>
              </a:defRPr>
            </a:pPr>
            <a:r>
              <a:t>SHT40 temp/humidity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0" y="26243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$1.50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75120" y="2926080"/>
            <a:ext cx="4846320" cy="256032"/>
          </a:xfrm>
          <a:prstGeom prst="rect">
            <a:avLst/>
          </a:prstGeom>
          <a:solidFill>
            <a:srgbClr val="14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12280" y="2944368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0F0F5"/>
                </a:solidFill>
                <a:latin typeface="Calibri"/>
              </a:defRPr>
            </a:pPr>
            <a:r>
              <a:t>PMSA003I PM sensor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20" y="29443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$8.00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75120" y="3246120"/>
            <a:ext cx="4846320" cy="256032"/>
          </a:xfrm>
          <a:prstGeom prst="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12280" y="3264408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0F0F5"/>
                </a:solidFill>
                <a:latin typeface="Calibri"/>
              </a:defRPr>
            </a:pPr>
            <a:r>
              <a:t>TPS62740 regulator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0" y="326440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$1.50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75120" y="3566160"/>
            <a:ext cx="4846320" cy="256032"/>
          </a:xfrm>
          <a:prstGeom prst="rect">
            <a:avLst/>
          </a:prstGeom>
          <a:solidFill>
            <a:srgbClr val="14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12280" y="3584448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0F0F5"/>
                </a:solidFill>
                <a:latin typeface="Calibri"/>
              </a:defRPr>
            </a:pPr>
            <a:r>
              <a:t>RGB LED + passives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75520" y="358444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$0.50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75120" y="3886200"/>
            <a:ext cx="4846320" cy="256032"/>
          </a:xfrm>
          <a:prstGeom prst="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12280" y="3904488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0F0F5"/>
                </a:solidFill>
                <a:latin typeface="Calibri"/>
              </a:defRPr>
            </a:pPr>
            <a:r>
              <a:t>PCB (45x45mm, 4-layer)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75520" y="390448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$1.50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75120" y="4206240"/>
            <a:ext cx="4846320" cy="256032"/>
          </a:xfrm>
          <a:prstGeom prst="rect">
            <a:avLst/>
          </a:prstGeom>
          <a:solidFill>
            <a:srgbClr val="14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12280" y="4224528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0F0F5"/>
                </a:solidFill>
                <a:latin typeface="Calibri"/>
              </a:defRPr>
            </a:pPr>
            <a:r>
              <a:t>2x AA battery holder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75520" y="422452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$0.40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75120" y="4526280"/>
            <a:ext cx="4846320" cy="256032"/>
          </a:xfrm>
          <a:prstGeom prst="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12280" y="4544568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0F0F5"/>
                </a:solidFill>
                <a:latin typeface="Calibri"/>
              </a:defRPr>
            </a:pPr>
            <a:r>
              <a:t>2x AA lithium cells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75520" y="45445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$2.50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75120" y="4846320"/>
            <a:ext cx="4846320" cy="256032"/>
          </a:xfrm>
          <a:prstGeom prst="rect">
            <a:avLst/>
          </a:prstGeom>
          <a:solidFill>
            <a:srgbClr val="14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12280" y="4864608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0F0F5"/>
                </a:solidFill>
                <a:latin typeface="Calibri"/>
              </a:defRPr>
            </a:pPr>
            <a:r>
              <a:t>Enclosure (ABS molded)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75520" y="486460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$2.50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675120" y="5166360"/>
            <a:ext cx="4846320" cy="256032"/>
          </a:xfrm>
          <a:prstGeom prst="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12280" y="5184648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0F0F5"/>
                </a:solidFill>
                <a:latin typeface="Calibri"/>
              </a:defRPr>
            </a:pPr>
            <a:r>
              <a:t>Assembly + test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75520" y="518464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$2.50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75120" y="5559552"/>
            <a:ext cx="4846320" cy="32004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812280" y="559612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Total COGS (sensor node)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75520" y="559612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~$35.90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75120" y="6062472"/>
            <a:ext cx="4846320" cy="457200"/>
          </a:xfrm>
          <a:prstGeom prst="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812280" y="610819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Gateway: ESP32-S3 + Ethernet PHY + PSU + enclosure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875520" y="610819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~$35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12280" y="6318504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Cloud hosting: &lt;$0.50/node/month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Hardest Problems &amp; Component Tradeoffs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303520" cy="457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THREE HARDEST PROBLEMS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303520" cy="1051560"/>
          </a:xfrm>
          <a:prstGeom prst="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48840"/>
            <a:ext cx="365760" cy="365760"/>
          </a:xfrm>
          <a:prstGeom prst="ellipse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08483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PM sensor vs. battery life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395728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The PMSA003I draws 25 mA during sampling -- 50x more than everything else combined. At 5 min intervals, it alone exceeds the entire power budget. Options: reduce PM sampling to 30-60 min, make PM a removable module, or accept shorter battery.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46120"/>
            <a:ext cx="5303520" cy="1051560"/>
          </a:xfrm>
          <a:prstGeom prst="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3383280"/>
            <a:ext cx="365760" cy="365760"/>
          </a:xfrm>
          <a:prstGeom prst="ellipse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31927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BLE range in concrete offices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630168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BLE advertising reach drops to 5-10m through concrete walls. 1 gateway per floor assumes 15m line-of-sight. Dense offices may need 2-3 gateways per floor, increasing cost.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480560"/>
            <a:ext cx="5303520" cy="1051560"/>
          </a:xfrm>
          <a:prstGeom prst="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4617720"/>
            <a:ext cx="365760" cy="365760"/>
          </a:xfrm>
          <a:prstGeom prst="ellipse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55371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OTA over BLE to sleeping nodes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864608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Firmware updates via cloud -&gt; gateway -&gt; BLE DFU to a node that sleeps 99% of the time. Must coordinate wake windows, handle interrupted transfers, and never brick deployed devices.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1371600"/>
            <a:ext cx="4846320" cy="4572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14173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COMPONENT TRADEOFFS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2011680"/>
            <a:ext cx="4846320" cy="694944"/>
          </a:xfrm>
          <a:prstGeom prst="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2057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nRF52840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057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BFA5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313432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Best BLE sleep ($4.50) vs. ESP32-C3 ($1.50, worse sleep). 12-month battery forces the premium.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2816352"/>
            <a:ext cx="4846320" cy="694944"/>
          </a:xfrm>
          <a:prstGeom prst="rect">
            <a:avLst/>
          </a:prstGeom>
          <a:solidFill>
            <a:srgbClr val="14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28620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SCD41 CO2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8620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BFA5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118104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Only photoacoustic CO2 at this size + accuracy. $10 dominates BOM. No alternative meets spec.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3621024"/>
            <a:ext cx="4846320" cy="694944"/>
          </a:xfrm>
          <a:prstGeom prst="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366674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PMSA003I PM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6667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BFA5"/>
                </a:solidFill>
                <a:latin typeface="Calibri"/>
              </a:defRPr>
            </a:pPr>
            <a:r>
              <a:t>Cost vs. power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922776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Adds $8 + destroys battery budget. Removable module (two SKUs) lets the customer decide.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4425696"/>
            <a:ext cx="4846320" cy="694944"/>
          </a:xfrm>
          <a:prstGeom prst="rect">
            <a:avLst/>
          </a:prstGeom>
          <a:solidFill>
            <a:srgbClr val="14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447141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TPS62740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44714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BFA5"/>
                </a:solidFill>
                <a:latin typeface="Calibri"/>
              </a:defRPr>
            </a:pPr>
            <a:r>
              <a:t>Power efficiency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72744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360 nA quiescent ($1.50) vs. LDO ($0.30, wastes months of battery in quiescent alone).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5230368"/>
            <a:ext cx="4846320" cy="694944"/>
          </a:xfrm>
          <a:prstGeom prst="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0" y="52760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ESP32-S3 (GW)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2760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BFA5"/>
                </a:solidFill>
                <a:latin typeface="Calibri"/>
              </a:defRPr>
            </a:pPr>
            <a:r>
              <a:t>Cost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5321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Cheapest BLE+Ethernet path ($3-4). Mains-powered -- no power tension at all.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The PM sensor is the central tension: it differentiates the product but threatens the battery target. Two-SKU model is the likely resolution.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9B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Technical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463040"/>
          </a:xfrm>
          <a:prstGeom prst="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91440" cy="146304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508760"/>
            <a:ext cx="365760" cy="365760"/>
          </a:xfrm>
          <a:prstGeom prst="ellipse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BLE + Gateway vs. WiFi Direct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4630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FA5"/>
                </a:solidFill>
                <a:latin typeface="Calibri"/>
              </a:defRPr>
            </a:pPr>
            <a:r>
              <a:t>CHOSEN: BLE + GATEWAY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WiFi draws 100-300 mA during Tx vs. 8 mA for BLE advertising. WiFi would drain AAs in weeks. The gateway adds $35-40 per floor but enables &gt;12 month battery life per sensor node.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00"/>
                </a:solidFill>
                <a:latin typeface="Calibri"/>
              </a:defRPr>
            </a:pPr>
            <a:r>
              <a:t>Consequences: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BBBBCC"/>
                </a:solidFill>
                <a:latin typeface="Calibri"/>
              </a:defRPr>
            </a:pPr>
            <a:r>
              <a:t>Adds a second hardware product (gateway). BLE range limits placement to ~15m LOS. 1 gateway per ~500 m2.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017520"/>
            <a:ext cx="10698480" cy="1463040"/>
          </a:xfrm>
          <a:prstGeom prst="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017520"/>
            <a:ext cx="91440" cy="14630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5840" y="3154680"/>
            <a:ext cx="365760" cy="36576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08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AA Batteries vs. Rechargeable LiPo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108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Calibri"/>
              </a:defRPr>
            </a:pPr>
            <a:r>
              <a:t>CHOSEN: 2x AA LITHIUM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74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Facility staff can swap AAs in seconds with no tools. Rechargeable adds USB-C, charge IC, and 'another thing to charge' -- doesn't fit mount-and-forget deployment.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4747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00"/>
                </a:solidFill>
                <a:latin typeface="Calibri"/>
              </a:defRPr>
            </a:pPr>
            <a:r>
              <a:t>Consequences: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BBBBCC"/>
                </a:solidFill>
                <a:latin typeface="Calibri"/>
              </a:defRPr>
            </a:pPr>
            <a:r>
              <a:t>Non-rechargeable: ~$6/year per node in batteries. 200-node building = $1,200/year. Rechargeable V2 SKU possible if this becomes a concern.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663440"/>
            <a:ext cx="10698480" cy="1463040"/>
          </a:xfrm>
          <a:prstGeom prst="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663440"/>
            <a:ext cx="91440" cy="1463040"/>
          </a:xfrm>
          <a:prstGeom prst="rect">
            <a:avLst/>
          </a:prstGeom>
          <a:solidFill>
            <a:srgbClr val="9B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5840" y="4800600"/>
            <a:ext cx="365760" cy="365760"/>
          </a:xfrm>
          <a:prstGeom prst="ellipse">
            <a:avLst/>
          </a:prstGeom>
          <a:solidFill>
            <a:srgbClr val="9B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754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Cloud-Only vs. Edge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4754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B6DFF"/>
                </a:solidFill>
                <a:latin typeface="Calibri"/>
              </a:defRPr>
            </a:pPr>
            <a:r>
              <a:t>CHOSEN: CLOUD-ONLY (V1)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1206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Sensor nodes sleep 99%. Gateway could do edge analytics, but adds FW complexity for marginal latency gain -- dashboard refreshes every 30s anyway. Cloud processing keeps FW simple and allows algorithm updates without OTA.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1206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8C00"/>
                </a:solidFill>
                <a:latin typeface="Calibri"/>
              </a:defRPr>
            </a:pPr>
            <a:r>
              <a:t>Consequences: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BBBBCC"/>
                </a:solidFill>
                <a:latin typeface="Calibri"/>
              </a:defRPr>
            </a:pPr>
            <a:r>
              <a:t>Requires reliable Ethernet. Alert latency is cloud-round-trip (~1-5s). Acceptable for HVAC decisions (minutes-scale).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Open Questions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325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Question /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3258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325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Target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10698480" cy="502920"/>
          </a:xfrm>
          <a:prstGeom prst="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6595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BBC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96595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PM sensor power budget exceeds target -- reduce sample rate, make removable module, or accept shorter battery?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96595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4545"/>
                </a:solidFill>
                <a:latin typeface="Calibri"/>
              </a:defRPr>
            </a:pPr>
            <a:r>
              <a:t>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96595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BBCC"/>
                </a:solidFill>
                <a:latin typeface="Calibri"/>
              </a:defRPr>
            </a:pPr>
            <a:r>
              <a:t>M2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468879"/>
            <a:ext cx="10698480" cy="502920"/>
          </a:xfrm>
          <a:prstGeom prst="rect">
            <a:avLst/>
          </a:prstGeom>
          <a:solidFill>
            <a:srgbClr val="14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56031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BBCC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56031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BLE range in concrete offices -- need field testing in 3+ real buildings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56031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8C00"/>
                </a:solidFill>
                <a:latin typeface="Calibri"/>
              </a:defRPr>
            </a:pPr>
            <a:r>
              <a:t>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56031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BBCC"/>
                </a:solidFill>
                <a:latin typeface="Calibri"/>
              </a:defRPr>
            </a:pPr>
            <a:r>
              <a:t>M3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063239"/>
            <a:ext cx="10698480" cy="502920"/>
          </a:xfrm>
          <a:prstGeom prst="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15467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BBCC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1546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SCD41 warm-up: does 5s window maintain +/-50 ppm? If 15s needed, CO2 power 3x.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315467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4545"/>
                </a:solidFill>
                <a:latin typeface="Calibri"/>
              </a:defRPr>
            </a:pPr>
            <a:r>
              <a:t>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15467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BBCC"/>
                </a:solidFill>
                <a:latin typeface="Calibri"/>
              </a:defRPr>
            </a:pPr>
            <a:r>
              <a:t>M2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657599"/>
            <a:ext cx="10698480" cy="502920"/>
          </a:xfrm>
          <a:prstGeom prst="rect">
            <a:avLst/>
          </a:prstGeom>
          <a:solidFill>
            <a:srgbClr val="14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74903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BBCC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37490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OTA reliability over BLE DFU to sleeping nodes -- retry strategy needed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374903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8C00"/>
                </a:solidFill>
                <a:latin typeface="Calibri"/>
              </a:defRPr>
            </a:pPr>
            <a:r>
              <a:t>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74903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BBCC"/>
                </a:solidFill>
                <a:latin typeface="Calibri"/>
              </a:defRPr>
            </a:pPr>
            <a:r>
              <a:t>M3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251959"/>
            <a:ext cx="10698480" cy="502920"/>
          </a:xfrm>
          <a:prstGeom prst="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34339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BBCC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434339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SCD41 sole source risk -- Sensirion only, 12-26 week lead times historically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34339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4545"/>
                </a:solidFill>
                <a:latin typeface="Calibri"/>
              </a:defRPr>
            </a:pPr>
            <a:r>
              <a:t>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34339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BBCC"/>
                </a:solidFill>
                <a:latin typeface="Calibri"/>
              </a:defRPr>
            </a:pPr>
            <a:r>
              <a:t>M1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846319"/>
            <a:ext cx="10698480" cy="502920"/>
          </a:xfrm>
          <a:prstGeom prst="rect">
            <a:avLst/>
          </a:prstGeom>
          <a:solidFill>
            <a:srgbClr val="14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93775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BBCC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493775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Gateway density: 1/floor vs. 1/zone. Need field testing.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493775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8C00"/>
                </a:solidFill>
                <a:latin typeface="Calibri"/>
              </a:defRPr>
            </a:pPr>
            <a:r>
              <a:t>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493775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BBCC"/>
                </a:solidFill>
                <a:latin typeface="Calibri"/>
              </a:defRPr>
            </a:pPr>
            <a:r>
              <a:t>M4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5440679"/>
            <a:ext cx="10698480" cy="502920"/>
          </a:xfrm>
          <a:prstGeom prst="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553211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BBCC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80160" y="553211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Battery replacement economics: $1,200/yr for 200-node building. Acceptable?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553211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BBBCC"/>
                </a:solidFill>
                <a:latin typeface="Calibri"/>
              </a:defRPr>
            </a:pPr>
            <a:r>
              <a:t>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553211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BBCC"/>
                </a:solidFill>
                <a:latin typeface="Calibri"/>
              </a:defRPr>
            </a:pPr>
            <a:r>
              <a:t>M6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6126480"/>
            <a:ext cx="10698480" cy="411480"/>
          </a:xfrm>
          <a:prstGeom prst="rect">
            <a:avLst/>
          </a:prstGeom>
          <a:solidFill>
            <a:srgbClr val="18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617220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8C00"/>
                </a:solidFill>
                <a:latin typeface="Calibri"/>
              </a:defRPr>
            </a:pPr>
            <a:r>
              <a:t>Items #1 and #3 are the highest-priority: both threaten the 12-month battery target, which is the product's core promise.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