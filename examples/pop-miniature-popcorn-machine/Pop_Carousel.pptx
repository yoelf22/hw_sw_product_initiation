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6858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Helvetica"/>
              </a:defRPr>
            </a:pPr>
            <a:r>
              <a:t>Pop!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28016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EC978"/>
                </a:solidFill>
                <a:latin typeface="Helvetica"/>
              </a:defRPr>
            </a:pPr>
            <a:r>
              <a:t>One kernel at a time. Physics does the sorting.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Helvetica"/>
              </a:defRPr>
            </a:pPr>
            <a:r>
              <a:t>A miniature desktop popcorn machine that pops kernels individually on a slow conveyor belt through a hot zone. Popped kernels escape into a bowl. Duds ride to the end. USB-C powered. Mesmerizing.</a:t>
            </a:r>
          </a:p>
        </p:txBody>
      </p:sp>
      <p:pic>
        <p:nvPicPr>
          <p:cNvPr id="7" name="Picture 6" descr="cross_section_illustration_pop_miniature_popcorn_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60320"/>
            <a:ext cx="6126480" cy="48463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8252460"/>
            <a:ext cx="6858000" cy="3200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29818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CC"/>
                </a:solidFill>
                <a:latin typeface="Helvetica"/>
              </a:defRPr>
            </a:pPr>
            <a:r>
              <a:t>Product Overview  |  Concept Stage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82981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097280" cy="2743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6126480" cy="17373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6126480" cy="54864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45"/>
                </a:solidFill>
                <a:latin typeface="Helvetica"/>
              </a:defRPr>
            </a:pPr>
            <a:r>
              <a:t>Microwave popcorn is invisible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Helvetica"/>
              </a:defRPr>
            </a:pPr>
            <a:r>
              <a:t>Push a button, wait 3 minutes, listen for the slowdown. Nothing to see. No ritual. No spectacle. The bag arrives pre-made with artificial butter flavor and regret.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017520"/>
            <a:ext cx="6126480" cy="17373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017520"/>
            <a:ext cx="612648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Helvetica"/>
              </a:defRPr>
            </a:pPr>
            <a:r>
              <a:t>Stovetop is overkill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Helvetica"/>
              </a:defRPr>
            </a:pPr>
            <a:r>
              <a:t>Oil, pot, lid, constant shaking, burned kernels stuck to the bottom, cleanup. All for a snack. Nobody does this at their desk.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983479"/>
            <a:ext cx="6126480" cy="17373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4983479"/>
            <a:ext cx="612648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16635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Helvetica"/>
              </a:defRPr>
            </a:pPr>
            <a:r>
              <a:t>No desk-scale popcorn experience exists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77839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Helvetica"/>
              </a:defRPr>
            </a:pPr>
            <a:r>
              <a:t>There is nothing that turns popcorn into a meditative, kernel-by-kernel show you watch while you work. Pop! fills the space between snack and spectacle.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7040880"/>
            <a:ext cx="6126480" cy="10972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713232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855F7"/>
                </a:solidFill>
                <a:latin typeface="Helvetica"/>
              </a:defRPr>
            </a:pPr>
            <a:r>
              <a:t>TARGET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7406640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Desk workers  |  Dorm dwellers  |  Gadget lovers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7726679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Gift recipients  |  Snack enthusiasts  |  Ages 14+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82981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097280" cy="27432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6126480" cy="15544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BF5"/>
                </a:solidFill>
                <a:latin typeface="Helvetica"/>
              </a:defRPr>
            </a:pPr>
            <a:r>
              <a:t>1. Fill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Pour kernels into the hopper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Lift the clear lid, pour in two tablespoons of kernels. The hopper holds ~100. Plug in the USB-C cable.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788920"/>
            <a:ext cx="6126480" cy="15544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78"/>
                </a:solidFill>
                <a:latin typeface="Helvetica"/>
              </a:defRPr>
            </a:pPr>
            <a:r>
              <a:t>2. 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Press the button, wait 45 seconds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LED ring glows amber as the PTC heater preheats to 200C. When the ring turns green, the conveyor belt starts.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572000"/>
            <a:ext cx="6126480" cy="15544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Helvetica"/>
              </a:defRPr>
            </a:pPr>
            <a:r>
              <a:t>3. Watch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8348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Kernels pop one at a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0352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Kernels slide down the gravity chute single-file onto the belt. The belt carries each through the hot zone. Pop! The kernel explodes, escapes the belt, tumbles into the bowl.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355079"/>
            <a:ext cx="6126480" cy="15544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4651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Helvetica"/>
              </a:defRPr>
            </a:pPr>
            <a:r>
              <a:t>4. 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59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Popcorn bowl fills, duds go to waste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7086599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Popped kernels escape sideways into the clear bowl. Duds ride the belt to the end and drop into the dud bowl. No sensors, no sorting logic. Physics does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82981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097280" cy="27432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6126480" cy="10058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F5"/>
                </a:solidFill>
                <a:latin typeface="Helvetica"/>
              </a:defRPr>
            </a:pPr>
            <a:r>
              <a:t>Kernel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Hopper  --&gt;  Chute  --&gt;  Belt  --&gt;  Hot Zone  --&gt;  Bowl / Dud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gravity       single-file    slow grip     200C PTC       physics sorting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48840"/>
            <a:ext cx="6126480" cy="7772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978"/>
                </a:solidFill>
                <a:latin typeface="Helvetica"/>
              </a:defRPr>
            </a:pPr>
            <a:r>
              <a:t>Key Insight: No Sensors for Sorting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68880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Popped = 25mm, escapes belt.  Unpopped = 6mm, stays gripped.  Physics wins.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6126480" cy="27432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20040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F5"/>
                </a:solidFill>
                <a:latin typeface="Helvetica"/>
              </a:defRPr>
            </a:pPr>
            <a:r>
              <a:t>SUBSYSTEMS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474720"/>
            <a:ext cx="612648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474720"/>
            <a:ext cx="54864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50215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Double Conveyor Belt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3075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PTFE-fiberglass mesh, grips kernels through hot zone, 5-8 mm/s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069080"/>
            <a:ext cx="6126480" cy="50292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069080"/>
            <a:ext cx="54864" cy="50292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9651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PTC Ceramic Heater (20W)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32511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Self-regulating, 200C, mounted under belt path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663440"/>
            <a:ext cx="612648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663440"/>
            <a:ext cx="54864" cy="502920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69087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Gravity Chute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91947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Angled slide, narrows to 9mm, single-files kernels passively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5257800"/>
            <a:ext cx="6126480" cy="50292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257800"/>
            <a:ext cx="54864" cy="502920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28523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MCU (ESP32-C3)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51383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PID temp control, motor PWM, LED effects, optional 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5852160"/>
            <a:ext cx="612648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5852160"/>
            <a:ext cx="54864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87959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USB-C PD (30W)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10819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20V @ 1.5A via STUSB4500, no wall brick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6446520"/>
            <a:ext cx="6126480" cy="50292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6446520"/>
            <a:ext cx="54864" cy="5029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LED Ring (WS2812B x8)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702552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Amber = preheat, green = running, blue = done, red = fault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7086600"/>
            <a:ext cx="6126480" cy="100584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7132320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Helvetica"/>
              </a:defRPr>
            </a:pPr>
            <a:r>
              <a:t>Dumb firmware, smart mechanism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745236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CC"/>
                </a:solidFill>
                <a:latin typeface="Helvetica"/>
              </a:defRPr>
            </a:pPr>
            <a:r>
              <a:t>The firmware runs PID temperature control and constant-speed motor drive. No pop detection, no sorting logic, no jam recovery. The conveyor belt and physics handle everything the firmware doesn't need to know about.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82981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Physics-Based Sorting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09728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Helvetica"/>
              </a:defRPr>
            </a:pPr>
            <a:r>
              <a:t>How does the machine know which kernels popped?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6126480" cy="17373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6126480" cy="54864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45"/>
                </a:solidFill>
                <a:latin typeface="Helvetica"/>
              </a:defRPr>
            </a:pPr>
            <a:r>
              <a:t>Unpopped Kernel (Dud)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Helvetica"/>
              </a:defRPr>
            </a:pPr>
            <a:r>
              <a:t>Size: ~6mm  |  Hard, 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Fits snugly between the two belts. Belt tension grips it. Rides the full belt path. Drops into the dud bowl at the 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383280"/>
            <a:ext cx="6126480" cy="19202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383280"/>
            <a:ext cx="6126480" cy="54864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52044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78"/>
                </a:solidFill>
                <a:latin typeface="Helvetica"/>
              </a:defRPr>
            </a:pPr>
            <a:r>
              <a:t>Popped Kernel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31920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Helvetica"/>
              </a:defRPr>
            </a:pPr>
            <a:r>
              <a:t>Size: ~25mm  |  Expanded 10-15x  |  Irregular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9768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Way too big for the belt gap. The expansion force pushes the spring-loaded belts apart. The kernel breaks free and escapes sideways into the popcorn bowl. No sensor needed.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577840"/>
            <a:ext cx="6126480" cy="251460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669280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Helvetica"/>
              </a:defRPr>
            </a:pPr>
            <a:r>
              <a:t>The conveyor belt IS the sensor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5760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CC"/>
                </a:solidFill>
                <a:latin typeface="Helvetica"/>
              </a:defRPr>
            </a:pPr>
            <a:r>
              <a:t>Belt gap: ~4mm at rest — spring-loaded rollers apply light tension. 6mm kernels get gripped. 25mm popcorn can't be held.</a:t>
            </a:r>
          </a:p>
          <a:p>
            <a:pPr algn="l">
              <a:spcBef>
                <a:spcPts val="600"/>
              </a:spcBef>
              <a:defRPr sz="900" b="0">
                <a:solidFill>
                  <a:srgbClr val="BBBBCC"/>
                </a:solidFill>
                <a:latin typeface="Helvetica"/>
              </a:defRPr>
            </a:pPr>
            <a:r>
              <a:t>Belt speed: 5-8 mm/s — each kernel spends 10-16 seconds in the hot zone. Fast enough to be interesting, slow enough to pop.</a:t>
            </a:r>
          </a:p>
          <a:p>
            <a:pPr algn="l">
              <a:spcBef>
                <a:spcPts val="600"/>
              </a:spcBef>
              <a:defRPr sz="900" b="0">
                <a:solidFill>
                  <a:srgbClr val="BBBBCC"/>
                </a:solidFill>
                <a:latin typeface="Helvetica"/>
              </a:defRPr>
            </a:pPr>
            <a:r>
              <a:t>Belt material: PTFE-coated fiberglass — survives 260C continuous. Food-safe (FDA approved). Low-stick so popcorn doesn't adhere.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82981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Constraints &amp; BOM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097280" cy="274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612648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Helvetica"/>
              </a:defRPr>
            </a:pPr>
            <a:r>
              <a:t>Hot zone temp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PTC self-regulating, PID-controlled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5852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~200C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600200"/>
            <a:ext cx="6126480" cy="50292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Helvetica"/>
              </a:defRPr>
            </a:pPr>
            <a:r>
              <a:t>Belt 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74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10-16s per kernel in hot zone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45920"/>
            <a:ext cx="5852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5-8 mm/s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194560"/>
            <a:ext cx="612648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2402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Helvetica"/>
              </a:defRPr>
            </a:pPr>
            <a:r>
              <a:t>Power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46888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19W steady state, 11W headroom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240280"/>
            <a:ext cx="5852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USB-C PD 30W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788920"/>
            <a:ext cx="6126480" cy="50292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8346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Helvetica"/>
              </a:defRPr>
            </a:pPr>
            <a:r>
              <a:t>Footprint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0632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Fits on a desk next to monitor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834640"/>
            <a:ext cx="5852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150 x 180 x 140mm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383280"/>
            <a:ext cx="612648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4290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Helvetica"/>
              </a:defRPr>
            </a:pPr>
            <a:r>
              <a:t>Weight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6576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Light enough to move with one hand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429000"/>
            <a:ext cx="5852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~400g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977639"/>
            <a:ext cx="6126480" cy="50292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023359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Helvetica"/>
              </a:defRPr>
            </a:pPr>
            <a:r>
              <a:t>Food safety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251959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PTFE belt, Tritan bowls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023359"/>
            <a:ext cx="5852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FDA / EU 1935/2004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709160"/>
            <a:ext cx="6126480" cy="27432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80060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978"/>
                </a:solidFill>
                <a:latin typeface="Helvetica"/>
              </a:defRPr>
            </a:pPr>
            <a:r>
              <a:t>BOM ESTIMATE (1k units)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" y="5029200"/>
            <a:ext cx="5980176" cy="182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038344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0F0F5"/>
                </a:solidFill>
                <a:latin typeface="Helvetica"/>
              </a:defRPr>
            </a:pPr>
            <a:r>
              <a:t>ESP32-C3-MINI-1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038344"/>
            <a:ext cx="5577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FFFFFF"/>
                </a:solidFill>
                <a:latin typeface="Helvetica"/>
              </a:defRPr>
            </a:pPr>
            <a:r>
              <a:t>$1.50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" y="5248656"/>
            <a:ext cx="5980176" cy="182880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257800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0F0F5"/>
                </a:solidFill>
                <a:latin typeface="Helvetica"/>
              </a:defRPr>
            </a:pPr>
            <a:r>
              <a:t>STUSB4500 PD controller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257800"/>
            <a:ext cx="5577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FFFFFF"/>
                </a:solidFill>
                <a:latin typeface="Helvetica"/>
              </a:defRPr>
            </a:pPr>
            <a:r>
              <a:t>$1.20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" y="5468112"/>
            <a:ext cx="5980176" cy="182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477256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0F0F5"/>
                </a:solidFill>
                <a:latin typeface="Helvetica"/>
              </a:defRPr>
            </a:pPr>
            <a:r>
              <a:t>USB-C + buck regulator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477256"/>
            <a:ext cx="5577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FFFFFF"/>
                </a:solidFill>
                <a:latin typeface="Helvetica"/>
              </a:defRPr>
            </a:pPr>
            <a:r>
              <a:t>$0.90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" y="5687568"/>
            <a:ext cx="5980176" cy="182880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696712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0F0F5"/>
                </a:solidFill>
                <a:latin typeface="Helvetica"/>
              </a:defRPr>
            </a:pPr>
            <a:r>
              <a:t>MOSFET + DRV8837 motor driver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696712"/>
            <a:ext cx="5577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FFFFFF"/>
                </a:solidFill>
                <a:latin typeface="Helvetica"/>
              </a:defRPr>
            </a:pPr>
            <a:r>
              <a:t>$1.00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5907024"/>
            <a:ext cx="5980176" cy="182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916168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0F0F5"/>
                </a:solidFill>
                <a:latin typeface="Helvetica"/>
              </a:defRPr>
            </a:pPr>
            <a:r>
              <a:t>PTC ceramic heater (20W)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916168"/>
            <a:ext cx="5577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FFFFFF"/>
                </a:solidFill>
                <a:latin typeface="Helvetica"/>
              </a:defRPr>
            </a:pPr>
            <a:r>
              <a:t>$1.50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" y="6126480"/>
            <a:ext cx="5980176" cy="182880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135624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0F0F5"/>
                </a:solidFill>
                <a:latin typeface="Helvetica"/>
              </a:defRPr>
            </a:pPr>
            <a:r>
              <a:t>DC gearmotor (30 RPM)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135624"/>
            <a:ext cx="5577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FFFFFF"/>
                </a:solidFill>
                <a:latin typeface="Helvetica"/>
              </a:defRPr>
            </a:pPr>
            <a:r>
              <a:t>$2.00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8912" y="6345936"/>
            <a:ext cx="5980176" cy="182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355080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0F0F5"/>
                </a:solidFill>
                <a:latin typeface="Helvetica"/>
              </a:defRPr>
            </a:pPr>
            <a:r>
              <a:t>Conveyor belt assembly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355080"/>
            <a:ext cx="5577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FFFFFF"/>
                </a:solidFill>
                <a:latin typeface="Helvetica"/>
              </a:defRPr>
            </a:pPr>
            <a:r>
              <a:t>$3.50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8912" y="6565392"/>
            <a:ext cx="5980176" cy="182880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6574536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0F0F5"/>
                </a:solidFill>
                <a:latin typeface="Helvetica"/>
              </a:defRPr>
            </a:pPr>
            <a:r>
              <a:t>Stainless steel chute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574536"/>
            <a:ext cx="5577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FFFFFF"/>
                </a:solidFill>
                <a:latin typeface="Helvetica"/>
              </a:defRPr>
            </a:pPr>
            <a:r>
              <a:t>$0.80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8912" y="6784848"/>
            <a:ext cx="5980176" cy="182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6793992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0F0F5"/>
                </a:solidFill>
                <a:latin typeface="Helvetica"/>
              </a:defRPr>
            </a:pPr>
            <a:r>
              <a:t>NTC thermistor + passives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793992"/>
            <a:ext cx="5577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FFFFFF"/>
                </a:solidFill>
                <a:latin typeface="Helvetica"/>
              </a:defRPr>
            </a:pPr>
            <a:r>
              <a:t>$0.65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8912" y="7004304"/>
            <a:ext cx="5980176" cy="182880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7013448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0F0F5"/>
                </a:solidFill>
                <a:latin typeface="Helvetica"/>
              </a:defRPr>
            </a:pPr>
            <a:r>
              <a:t>WS2812B LEDs x8 + piezo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7013448"/>
            <a:ext cx="5577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FFFFFF"/>
                </a:solidFill>
                <a:latin typeface="Helvetica"/>
              </a:defRPr>
            </a:pPr>
            <a:r>
              <a:t>$1.00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8912" y="7223760"/>
            <a:ext cx="5980176" cy="182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7232904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0F0F5"/>
                </a:solidFill>
                <a:latin typeface="Helvetica"/>
              </a:defRPr>
            </a:pPr>
            <a:r>
              <a:t>PCB (50x40mm, 4-layer)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7232904"/>
            <a:ext cx="5577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FFFFFF"/>
                </a:solidFill>
                <a:latin typeface="Helvetica"/>
              </a:defRPr>
            </a:pPr>
            <a:r>
              <a:t>$1.20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8912" y="7443216"/>
            <a:ext cx="5980176" cy="182880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7452360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0F0F5"/>
                </a:solidFill>
                <a:latin typeface="Helvetica"/>
              </a:defRPr>
            </a:pPr>
            <a:r>
              <a:t>Enclosure (all parts)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7452360"/>
            <a:ext cx="5577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FFFFFF"/>
                </a:solidFill>
                <a:latin typeface="Helvetica"/>
              </a:defRPr>
            </a:pPr>
            <a:r>
              <a:t>$5.10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8912" y="7662671"/>
            <a:ext cx="5980176" cy="182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7671815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0F0F5"/>
                </a:solidFill>
                <a:latin typeface="Helvetica"/>
              </a:defRPr>
            </a:pPr>
            <a:r>
              <a:t>Thermal insulation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7671815"/>
            <a:ext cx="5577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FFFFFF"/>
                </a:solidFill>
                <a:latin typeface="Helvetica"/>
              </a:defRPr>
            </a:pPr>
            <a:r>
              <a:t>$0.30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8912" y="7882128"/>
            <a:ext cx="5980176" cy="182880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8640" y="7891272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0F0F5"/>
                </a:solidFill>
                <a:latin typeface="Helvetica"/>
              </a:defRPr>
            </a:pPr>
            <a:r>
              <a:t>Packaging + cable + samples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7891272"/>
            <a:ext cx="5577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FFFFFF"/>
                </a:solidFill>
                <a:latin typeface="Helvetica"/>
              </a:defRPr>
            </a:pPr>
            <a:r>
              <a:t>$1.50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8912" y="8101583"/>
            <a:ext cx="5980176" cy="1828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" y="8110727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0F0F5"/>
                </a:solidFill>
                <a:latin typeface="Helvetica"/>
              </a:defRPr>
            </a:pPr>
            <a:r>
              <a:t>Assembly + test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8110727"/>
            <a:ext cx="5577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FFFFFF"/>
                </a:solidFill>
                <a:latin typeface="Helvetica"/>
              </a:defRPr>
            </a:pPr>
            <a:r>
              <a:t>$2.50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38912" y="8339327"/>
            <a:ext cx="5980176" cy="228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8640" y="834847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Helvetica"/>
              </a:defRPr>
            </a:pPr>
            <a:r>
              <a:t>Total COGS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8348472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Helvetica"/>
              </a:defRPr>
            </a:pPr>
            <a:r>
              <a:t>~$24.75  (5k: ~$18.50)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26480" y="82981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Hardest Problems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097280" cy="2743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6126480" cy="19659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1. Belt grip vs. pop escape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76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The belt must grip unpopped kernels (~6mm) firmly enough to transport them, yet release popped kernels (~25mm) reliably. Spring-loaded belt tension is the tuning variable. Too tight: popped kernels get crushed. Too loose: unpopped kernels slip. Must prototype with real kernels and real belts at M1.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246120"/>
            <a:ext cx="6126480" cy="19659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2. Heat transfer through the belt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76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Kernels are heated through PTFE-fiberglass mesh from a PTC heater below. If heat transfer is too slow, each kernel takes &gt;12 seconds to pop and the cadence is boring. May need heater on both sides or direct radiant exposure through mesh openings. Target: pop within 8-12 seconds of entering the hot zone.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5440679"/>
            <a:ext cx="6126480" cy="19659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577839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3. Gravity chute jamming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599"/>
            <a:ext cx="576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The passive chute must single-file kernels from a bulk hopper using only geometry and gravity. Kernels are 4-8mm, irregular, and tend to bridge in narrowing channels. V-groove cross-section and polished surface help. A small vibration motor is the fallback. Must test with multiple kernel brands at M1.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7680960"/>
            <a:ext cx="6126480" cy="5486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7726679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8C00"/>
                </a:solidFill>
                <a:latin typeface="Helvetica"/>
              </a:defRPr>
            </a:pPr>
            <a:r>
              <a:t>All three are mechanism problems solved by prototyping, not simulation. M1: 3D-printed frame, off-shelf belts, PTC heater, real kernels.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82981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Gate Result &amp;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097280" cy="27432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6126480" cy="7772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828800" cy="548640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15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elvetica"/>
              </a:defRPr>
            </a:pPr>
            <a:r>
              <a:t>GATE: 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Helvetica"/>
              </a:defRPr>
            </a:pPr>
            <a:r>
              <a:t>70 pass / 13 N/A / 3 minor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17043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Helvetica"/>
              </a:defRPr>
            </a:pPr>
            <a:r>
              <a:t>System description complete.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4173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978"/>
                </a:solidFill>
                <a:latin typeface="Helvetica"/>
              </a:defRPr>
            </a:pPr>
            <a:r>
              <a:t>Ready for mechanism prototype.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920240"/>
            <a:ext cx="6126480" cy="7772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6596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BF5"/>
                </a:solidFill>
                <a:latin typeface="Helvetica"/>
              </a:defRPr>
            </a:pPr>
            <a:r>
              <a:t>POWER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9456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Helvetica"/>
              </a:defRPr>
            </a:pPr>
            <a:r>
              <a:t>USB-C PD: 20V @ 1.5A (30W)  |  Steady state: ~19W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42316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Heater 17W  |  Motor 0.3W  |  MCU 0.15W  |  LEDs 0.8W  |  11W headroom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834640"/>
            <a:ext cx="6126480" cy="77724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88036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855F7"/>
                </a:solidFill>
                <a:latin typeface="Helvetica"/>
              </a:defRPr>
            </a:pPr>
            <a:r>
              <a:t>KEY SPECS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0896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Helvetica"/>
              </a:defRPr>
            </a:pPr>
            <a:r>
              <a:t>150x180x140mm  |  ~400g  |  Clear enclosure  |  Tritan bowls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33756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Helvetica"/>
              </a:defRPr>
            </a:pPr>
            <a:r>
              <a:t>ESP32-C3  |  BLE 5.0  |  OTA  |  Retail $50-80  |  BOM &lt;$25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40480"/>
            <a:ext cx="6126480" cy="274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931920"/>
            <a:ext cx="6126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Helvetica"/>
              </a:defRPr>
            </a:pPr>
            <a:r>
              <a:t>8 OPEN ITEMS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206240"/>
            <a:ext cx="6126480" cy="347472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2702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Helvetica"/>
              </a:defRPr>
            </a:pPr>
            <a:r>
              <a:t>M1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270248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Helvetica"/>
              </a:defRPr>
            </a:pPr>
            <a:r>
              <a:t>Belt grip vs. pop escape tuning with real kernels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636007"/>
            <a:ext cx="6126480" cy="347472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700015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Helvetica"/>
              </a:defRPr>
            </a:pPr>
            <a:r>
              <a:t>M1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700015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Helvetica"/>
              </a:defRPr>
            </a:pPr>
            <a:r>
              <a:t>Heat transfer rate through PTFE-fiberglass belt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5065775"/>
            <a:ext cx="6126480" cy="347472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129783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Helvetica"/>
              </a:defRPr>
            </a:pPr>
            <a:r>
              <a:t>M1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12978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Helvetica"/>
              </a:defRPr>
            </a:pPr>
            <a:r>
              <a:t>Gravity chute jamming across kernel brands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5495544"/>
            <a:ext cx="6126480" cy="347472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5595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Helvetica"/>
              </a:defRPr>
            </a:pPr>
            <a:r>
              <a:t>M2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559552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Helvetica"/>
              </a:defRPr>
            </a:pPr>
            <a:r>
              <a:t>Popped kernel escape direction / bowl placement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5925312"/>
            <a:ext cx="6126480" cy="347472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9893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Helvetica"/>
              </a:defRPr>
            </a:pPr>
            <a:r>
              <a:t>M2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989320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Helvetica"/>
              </a:defRPr>
            </a:pPr>
            <a:r>
              <a:t>Thermal isolation (outer surface &lt;45C)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6355079"/>
            <a:ext cx="6126480" cy="347472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419087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Helvetica"/>
              </a:defRPr>
            </a:pPr>
            <a:r>
              <a:t>M3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6419087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Helvetica"/>
              </a:defRPr>
            </a:pPr>
            <a:r>
              <a:t>Belt longevity at 200C (target 500+ hours)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6784848"/>
            <a:ext cx="6126480" cy="347472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84885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Helvetica"/>
              </a:defRPr>
            </a:pPr>
            <a:r>
              <a:t>M2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684885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Helvetica"/>
              </a:defRPr>
            </a:pPr>
            <a:r>
              <a:t>UL/ETL path for &lt;25W heating appliance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7214616"/>
            <a:ext cx="6126480" cy="347472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727862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Helvetica"/>
              </a:defRPr>
            </a:pPr>
            <a:r>
              <a:t>M2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727862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Helvetica"/>
              </a:defRPr>
            </a:pPr>
            <a:r>
              <a:t>USB-C PD compatibility across charger brands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7726679"/>
            <a:ext cx="6126480" cy="5486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777240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Helvetica"/>
              </a:defRPr>
            </a:pPr>
            <a:r>
              <a:t>Next step: 3D-print the frame, source PTFE belts and a PTC heater, build the conveyor mechanism. Pop real kernels. Validate belt grip, chute flow, and escape geometry before committing to tooling.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82981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BBBCC"/>
                </a:solidFill>
                <a:latin typeface="Helvetica"/>
              </a:defRPr>
            </a:pPr>
            <a: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