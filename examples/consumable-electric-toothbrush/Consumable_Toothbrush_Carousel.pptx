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58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Helvetica"/>
              </a:defRPr>
            </a:pPr>
            <a:r>
              <a:t>Consumable Electric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Helvetica"/>
              </a:defRPr>
            </a:pPr>
            <a:r>
              <a:t>Toothbrush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280160" cy="36576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C978"/>
                </a:solidFill>
                <a:latin typeface="Helvetica"/>
              </a:defRPr>
            </a:pPr>
            <a:r>
              <a:t>Use it. Toss it. Open a new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A battery-powered vibrating toothbrush designed as a true consumable. AAA alkaline, no MCU, dual-injection sealed. $3-5 retail vs. Oral-B Pulsar at $8-12.</a:t>
            </a:r>
          </a:p>
        </p:txBody>
      </p:sp>
      <p:pic>
        <p:nvPicPr>
          <p:cNvPr id="8" name="Picture 7" descr="cross_section_illustration_consumable_toothbr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0"/>
            <a:ext cx="612648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8252460"/>
            <a:ext cx="6858000" cy="3200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829818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Helvetica"/>
              </a:defRPr>
            </a:pPr>
            <a:r>
              <a:t>Product Overview  |  Concept Stage  |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6126480" cy="17373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126480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Helvetica"/>
              </a:defRPr>
            </a:pPr>
            <a:r>
              <a:t>Oral-B Pulsar is overpriced for a disposable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At $8-12, the Pulsar pretends to be reusable but has a sealed, non-replaceable battery. When it dies, you throw it away.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017520"/>
            <a:ext cx="6126480" cy="17373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61264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Helvetica"/>
              </a:defRPr>
            </a:pPr>
            <a:r>
              <a:t>Manual brushes don't clean as well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Powered vibration removes more plaque than manual brushing. But rechargeable brushes cost $30-200. Budget consumers are stuck.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983479"/>
            <a:ext cx="6126480" cy="17373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983479"/>
            <a:ext cx="61264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6635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Helvetica"/>
              </a:defRPr>
            </a:pPr>
            <a:r>
              <a:t>No honest sub-$5 powered option exists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77839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Premium rechargeable ($30+) or Oral-B Pulsar ($8-12). Nothing below $5 where powered brushing becomes truly disposable.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7040880"/>
            <a:ext cx="6126480" cy="10972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713232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F5"/>
                </a:solidFill>
                <a:latin typeface="Helvetica"/>
              </a:defRPr>
            </a:pPr>
            <a:r>
              <a:t>TARGET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740664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Budget-conscious consumers  |  Travelers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7726679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Hotels &amp; hospitality  |  Multi-pack buyers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BF5"/>
                </a:solidFill>
                <a:latin typeface="Helvetica"/>
              </a:defRPr>
            </a:pPr>
            <a:r>
              <a:t>1.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Tear open blister 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AAA alkaline battery is pre-installed with years of shelf life. No charging, no pairing, no setup.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88920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78"/>
                </a:solidFill>
                <a:latin typeface="Helvetica"/>
              </a:defRPr>
            </a:pPr>
            <a:r>
              <a:t>2. 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Push the button once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Latching push-button turns motor on. ERM vibration motor spins up instantly. Bristles oscillate via split-head mechanism.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572000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Helvetica"/>
              </a:defRPr>
            </a:pPr>
            <a:r>
              <a:t>3. Brush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8348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2 minutes, twice daily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0352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Split bristle head concentrates oscillation at bristle tips. Rinse under tap after use. IPX5 sealed.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355079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Helvetica"/>
              </a:defRPr>
            </a:pPr>
            <a:r>
              <a:t>4. Toss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59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~90 days later, motor stops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7086599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Alkaline cell drops below stall voltage. Clear end-of-life: it works or it doesn't. Discard and open a new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126480" cy="10058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Helvetica"/>
              </a:defRPr>
            </a:pPr>
            <a:r>
              <a:t>Power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AAA Cell --&gt; Latching Switch --&gt; ERM 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1.5V alkaline      push on/off       60-100mA, direct drive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48840"/>
            <a:ext cx="6126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78"/>
                </a:solidFill>
                <a:latin typeface="Helvetica"/>
              </a:defRPr>
            </a:pPr>
            <a:r>
              <a:t>Mechanical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Motor --&gt; Eccentric --&gt; Linkage --&gt; Split Head --&gt; Bristles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6126480" cy="27432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20040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Helvetica"/>
              </a:defRPr>
            </a:pPr>
            <a:r>
              <a:t>SUBSYSTEMS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474720"/>
            <a:ext cx="6126480" cy="43891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474720"/>
            <a:ext cx="54864" cy="43891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93008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AAA Alkaline Cell (1.5V)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1000-1200 mAh, ~750 min runtime, years of shelf life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05072"/>
            <a:ext cx="6126480" cy="438912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05072"/>
            <a:ext cx="54864" cy="43891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233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Latching Push-Button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3367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Mechanical push-on/push-off, sealed by TPE overmold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535424"/>
            <a:ext cx="6126480" cy="43891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535424"/>
            <a:ext cx="54864" cy="43891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5371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Cylindrical ERM Motor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64024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6x12mm, 60-100mA at 1.5V, axial mount in handle neck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065775"/>
            <a:ext cx="6126480" cy="438912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065775"/>
            <a:ext cx="54864" cy="43891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84063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Split Bristle 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294375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Fixed + moving halves, living hinge pivot, 1-2mm oscillation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596127"/>
            <a:ext cx="6126480" cy="43891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596127"/>
            <a:ext cx="54864" cy="438912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614415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Rigid PP Body (1st shot)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824727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Handle, motor pocket, battery tube, insert-molded bristles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6126479"/>
            <a:ext cx="6126480" cy="438912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6126479"/>
            <a:ext cx="54864" cy="43891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144767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TPE Overmold (2nd shot)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355079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Seals all penetrations, grip, button membrane, head boot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6656831"/>
            <a:ext cx="6126480" cy="43891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6656831"/>
            <a:ext cx="54864" cy="43891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675119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Battery Cap + O-ring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885431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Threaded PP cap, static radial seal, factory-installed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7223760"/>
            <a:ext cx="6126480" cy="86868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726948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Helvetica"/>
              </a:defRPr>
            </a:pPr>
            <a:r>
              <a:t>Zero software. Zero electronics.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75895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Helvetica"/>
              </a:defRPr>
            </a:pPr>
            <a:r>
              <a:t>No MCU, no PCB, no firmware, no app, no cloud. The entire electrical system is 3 components and 2 wires.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Dual-Injection Sealing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Helvetica"/>
              </a:defRPr>
            </a:pPr>
            <a:r>
              <a:t>How do you waterproof a $1.50 product for 90 days of wet use?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6126480" cy="1645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6126480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F5"/>
                </a:solidFill>
                <a:latin typeface="Helvetica"/>
              </a:defRPr>
            </a:pPr>
            <a:r>
              <a:t>1st Shot: Rigid PP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Injection-mold the structural handle with bristles pre-loaded in the mold cavity. Plastic flows around each bristle base, creating a watertight seal at every tuft. No secondary sealing.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291840"/>
            <a:ext cx="6126480" cy="18288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291840"/>
            <a:ext cx="6126480" cy="54864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78"/>
                </a:solidFill>
                <a:latin typeface="Helvetica"/>
              </a:defRPr>
            </a:pPr>
            <a:r>
              <a:t>2nd Shot: TPE Overmold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After motor, wiring, switch, and battery are assembled into the rigid body, the 2nd injection encapsulates everything. TPE bonds chemically to PP, sealing all penetrations in one step: grip texture, button membrane, and dynamic head boot.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394960"/>
            <a:ext cx="6126480" cy="265176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Helvetica"/>
              </a:defRPr>
            </a:pPr>
            <a:r>
              <a:t>4 Seal Zones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5216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Helvetica"/>
              </a:defRPr>
            </a:pPr>
            <a:r>
              <a:t>1. Bristle insert-mold: PP flows around nylon tuft bases during 1st injection</a:t>
            </a:r>
          </a:p>
          <a:p>
            <a:pPr algn="l">
              <a:spcBef>
                <a:spcPts val="600"/>
              </a:spcBef>
              <a:defRPr sz="900" b="0">
                <a:solidFill>
                  <a:srgbClr val="BBBBCC"/>
                </a:solidFill>
                <a:latin typeface="Helvetica"/>
              </a:defRPr>
            </a:pPr>
            <a:r>
              <a:t>2. TPE body overmold: 2nd shot seals handle, switch, wire penetrations</a:t>
            </a:r>
          </a:p>
          <a:p>
            <a:pPr algn="l">
              <a:spcBef>
                <a:spcPts val="600"/>
              </a:spcBef>
              <a:defRPr sz="900" b="0">
                <a:solidFill>
                  <a:srgbClr val="BBBBCC"/>
                </a:solidFill>
                <a:latin typeface="Helvetica"/>
              </a:defRPr>
            </a:pPr>
            <a:r>
              <a:t>3. TPE head boot: Flexible boot around split-head pivot, survives millions of flex cycles</a:t>
            </a:r>
          </a:p>
          <a:p>
            <a:pPr algn="l">
              <a:spcBef>
                <a:spcPts val="600"/>
              </a:spcBef>
              <a:defRPr sz="900" b="0">
                <a:solidFill>
                  <a:srgbClr val="BBBBCC"/>
                </a:solidFill>
                <a:latin typeface="Helvetica"/>
              </a:defRPr>
            </a:pPr>
            <a:r>
              <a:t>4. O-ring battery cap: Threaded PP cap compresses O-ring at handle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Constraints &amp; BOM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BOM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At 10k units; &lt; $1.20 at 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&lt; $1.50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0020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Motor 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~750 min calculated (AAA @ 80mA)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&gt;= 350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9456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Water resistance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688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Dual-injection + O-ring, 90 days wet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24028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IPX5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78892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8346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Handle diameter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063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AAA cell (10.5mm) + PP wall + TPE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83464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&lt;= 16mm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38328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4290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Retail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Undercutting Oral-B Pulsar ($8-12)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2900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$3 - $5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977639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23359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Shelf life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51959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Alkaline chemistry, sealed blister pack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023359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&gt; 2 years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09160"/>
            <a:ext cx="6126480" cy="2743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80060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78"/>
                </a:solidFill>
                <a:latin typeface="Helvetica"/>
              </a:defRPr>
            </a:pPr>
            <a:r>
              <a:t>BOM ESTIMATE (10k units)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5074920"/>
            <a:ext cx="5980176" cy="21031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09320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ERM motor (cylindrical, 6x12mm)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93208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5321808"/>
            <a:ext cx="5980176" cy="210312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34009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AAA alkaline cell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340096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$0.07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" y="5568696"/>
            <a:ext cx="5980176" cy="21031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58698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Latching push-button switch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586984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" y="5815583"/>
            <a:ext cx="5980176" cy="210312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833871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Wiring (2x, 26AWG, tinned)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833871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$0.01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062472"/>
            <a:ext cx="5980176" cy="21031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08076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Spring contact + plate contact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080760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$0.02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" y="6309360"/>
            <a:ext cx="5980176" cy="210312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32764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PA-612 nylon bristle tufts (x35)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327648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$0.02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" y="6556248"/>
            <a:ext cx="5980176" cy="21031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7453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O-ring (battery cap seal)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574536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" y="6803136"/>
            <a:ext cx="5980176" cy="210312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682142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PP resin (1st shot, ~8g)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821424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$0.02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8912" y="7050024"/>
            <a:ext cx="5980176" cy="21031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706831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TPE resin (2nd shot, ~3g)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7068312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$0.02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" y="7296912"/>
            <a:ext cx="5980176" cy="210312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731520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Battery cap (threaded PP)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7315200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$0.02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12" y="7543800"/>
            <a:ext cx="5980176" cy="21031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756208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Blister packaging + card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7562088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$0.08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8912" y="7790688"/>
            <a:ext cx="5980176" cy="210312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780897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F0F5"/>
                </a:solidFill>
                <a:latin typeface="Helvetica"/>
              </a:defRPr>
            </a:pPr>
            <a:r>
              <a:t>Assembly + test (90-100s/unit)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7808976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Helvetica"/>
              </a:defRPr>
            </a:pPr>
            <a:r>
              <a:t>$0.72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8912" y="8065008"/>
            <a:ext cx="5980176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8083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Total COGS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8083296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~$1.14  (50k: ~$0.92)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Hardest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6126480" cy="19659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1. Dynamic seal at the split head joint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The moving bristle half oscillates ~1-2mm at 150+ Hz while the TPE boot must keep water out of the motor cavity. Fatigue + sealing problem -- the boot must survive millions of flex cycles in a wet, toothpaste-laden environment.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246120"/>
            <a:ext cx="6126480" cy="19659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2. Insert-molding bristle seal quality at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~35 bristle tufts penetrate the PP surface. At production speed, every tuft base must be sealed by injection. A single unsealed tuft is a water ingress path. Narrow process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440679"/>
            <a:ext cx="6126480" cy="19659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77839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3. BOM discipline with dual-injection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599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Overmolding adds ~$0.10-0.20/unit vs. single-shot, tooling is 2-3x higher ($15k-25k). With $3-5 retail and distribution margins, every component must be ruthlessly cost-optimized.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7680960"/>
            <a:ext cx="6126480" cy="5486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7726679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C00"/>
                </a:solidFill>
                <a:latin typeface="Helvetica"/>
              </a:defRPr>
            </a:pPr>
            <a:r>
              <a:t>All three are manufacturing challenges, not design unknowns. Oral-B Pulsar proves the architecture -- the risk is execution at lower cost.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Gate Result &amp;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126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828800" cy="548640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15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GATE: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Helvetica"/>
              </a:defRPr>
            </a:pPr>
            <a:r>
              <a:t>40 pass / 47 N/A / 2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1704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System description complete.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4173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78"/>
                </a:solidFill>
                <a:latin typeface="Helvetica"/>
              </a:defRPr>
            </a:pPr>
            <a:r>
              <a:t>Ready for mold design.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20240"/>
            <a:ext cx="6126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F5"/>
                </a:solidFill>
                <a:latin typeface="Helvetica"/>
              </a:defRPr>
            </a:pPr>
            <a:r>
              <a:t>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80 mA active  |  &lt; 1 uA off  |  AAA 1000 mAh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231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~750 min runtime  |  ~187 days @ 4 min/day  |  non-rechargeable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34640"/>
            <a:ext cx="6126480" cy="77724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803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Helvetica"/>
              </a:defRPr>
            </a:pPr>
            <a:r>
              <a:t>KEY SPECS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~160mm long  |  ~15mm dia  |  IPX5  |  Single SKU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375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No MCU  |  No PCB  |  No app  |  $3-5 retail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80"/>
            <a:ext cx="612648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93192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7 OPEN ITEMS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206240"/>
            <a:ext cx="6126480" cy="34747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70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7024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Motor performance validation at end-of-life voltage (~1.0V)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636007"/>
            <a:ext cx="6126480" cy="347472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0001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00015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Living hinge geometry: thickness, width, PP grade for 4M cycles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065775"/>
            <a:ext cx="6126480" cy="34747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12978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2978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TPE head boot fatigue life in wet toothpaste environment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495544"/>
            <a:ext cx="6126480" cy="347472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5595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55955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Insert-mold bristle seal QC: tuft pull-force per ISO 20126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925312"/>
            <a:ext cx="6126480" cy="34747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9893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98932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Retail channel acceptance test (shelf appeal, blister design)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6355079"/>
            <a:ext cx="6126480" cy="347472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1908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6419087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O-ring compression verification for production QC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6784848"/>
            <a:ext cx="6126480" cy="34747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84885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684885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Motor current draw screening for dead/high-draw units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7498079"/>
            <a:ext cx="6126480" cy="7315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754380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Next step: source motor samples and AAA cells, build a hand-assembled prototype in a 3D-printed shell, and validate split-head oscillation and motor stall voltage. Then commit to dual-injection tooling.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